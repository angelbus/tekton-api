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2296"/>
            <a:ext cx="109728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CC0000">
              <a:alpha val="4000"/>
            </a:srgbClr>
          </a:solidFill>
          <a:ln w="12700">
            <a:solidFill>
              <a:srgbClr val="CC000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743200"/>
            <a:ext cx="3200400" cy="3200400"/>
          </a:xfrm>
          <a:prstGeom prst="ellipse">
            <a:avLst/>
          </a:prstGeom>
          <a:solidFill>
            <a:srgbClr val="CC0000">
              <a:alpha val="6000"/>
            </a:srgbClr>
          </a:solidFill>
          <a:ln w="25400">
            <a:solidFill>
              <a:srgbClr val="CC000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7200"/>
            <a:ext cx="182880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5720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57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896112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
</a:t>
            </a:r>
            <a:pPr indent="0" marL="0">
              <a:buNone/>
            </a:pPr>
            <a:r>
              <a:rPr lang="en-US" sz="5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Strategy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9144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SLZ 2.0</a:t>
            </a:r>
            <a:endParaRPr lang="en-US" sz="2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788920"/>
            <a:ext cx="32004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1460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RLZ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61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2186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Santander Landing Zone v2 to Regional Landing Zone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301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6027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20, 2026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1421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9867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CTO Leadership Board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8640" y="48737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29200" y="4873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0" y="16459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Migration: SLZ 2.0 → RLZ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297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4300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344168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Migration Overview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drivers &amp; workflow phases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63040"/>
            <a:ext cx="256032" cy="25603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2240280"/>
            <a:ext cx="4297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24028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2441448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97280" y="2350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to Consider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RLZ requirements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60320"/>
            <a:ext cx="256032" cy="25603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5760" y="3337560"/>
            <a:ext cx="4297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33756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2920" y="3538728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50292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97280" y="3447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Project Assessment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09728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gap analysis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657600"/>
            <a:ext cx="256032" cy="25603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937760" y="1143000"/>
            <a:ext cx="4297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937760" y="114300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074920" y="1344168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5074920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5669280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Adaptation &amp; Onboarding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56692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&amp; deployment</a:t>
            </a:r>
            <a:endParaRPr lang="en-US" sz="11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463040"/>
            <a:ext cx="256032" cy="25603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4937760" y="2240280"/>
            <a:ext cx="4297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937760" y="224028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074920" y="2441448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507492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5669280" y="2350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Go Live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5669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&amp; validation</a:t>
            </a:r>
            <a:endParaRPr lang="en-US" sz="11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560320"/>
            <a:ext cx="256032" cy="25603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4937760" y="3337560"/>
            <a:ext cx="4297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4937760" y="333756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5074920" y="3538728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507492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2"/>
          <p:cNvSpPr/>
          <p:nvPr/>
        </p:nvSpPr>
        <p:spPr>
          <a:xfrm>
            <a:off x="5669280" y="3447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50" name="Text 43"/>
          <p:cNvSpPr/>
          <p:nvPr/>
        </p:nvSpPr>
        <p:spPr>
          <a:xfrm>
            <a:off x="566928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immediate actions</a:t>
            </a:r>
            <a:endParaRPr lang="en-US" sz="110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3657600"/>
            <a:ext cx="256032" cy="256032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365760" y="4343400"/>
            <a:ext cx="42976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365760" y="4343400"/>
            <a:ext cx="54864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02920" y="4389120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02920" y="4389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Text 48"/>
          <p:cNvSpPr/>
          <p:nvPr/>
        </p:nvSpPr>
        <p:spPr>
          <a:xfrm>
            <a:off x="960120" y="43799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Accounts Inventory</a:t>
            </a:r>
            <a:endParaRPr lang="en-US" sz="1400" dirty="0"/>
          </a:p>
        </p:txBody>
      </p:sp>
      <p:sp>
        <p:nvSpPr>
          <p:cNvPr id="57" name="Text 49"/>
          <p:cNvSpPr/>
          <p:nvPr/>
        </p:nvSpPr>
        <p:spPr>
          <a:xfrm>
            <a:off x="960120" y="4581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migration scope</a:t>
            </a:r>
            <a:endParaRPr lang="en-US" sz="110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434840"/>
            <a:ext cx="256032" cy="256032"/>
          </a:xfrm>
          <a:prstGeom prst="rect">
            <a:avLst/>
          </a:prstGeom>
        </p:spPr>
      </p:pic>
      <p:sp>
        <p:nvSpPr>
          <p:cNvPr id="59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61" name="Text 52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96696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</a:t>
            </a:r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SLZ 2.0 to RLZ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329184"/>
            <a:ext cx="118872" cy="1188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256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1152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Migrate Now?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1463040"/>
            <a:ext cx="13716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81328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" y="1472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Driver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" y="17190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RLZ introduces a radically new network model and RBAC model. The previous migration methods used for SLZ 4.0 are incompatible with these structural changes.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463040"/>
            <a:ext cx="137160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481328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92624" y="1472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Path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54880" y="17190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sustainable approach is to re-deploy projects directly on RLZ infrastructure and perform a controlled migration or copy of the data.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Workflow Strategy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57200" y="2834640"/>
            <a:ext cx="1234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94436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709928" y="329184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856232" y="2834640"/>
            <a:ext cx="1234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294436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56232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108960" y="329184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255264" y="2834640"/>
            <a:ext cx="1234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604" y="2944368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255264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07992" y="329184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654296" y="2834640"/>
            <a:ext cx="1234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8636" y="2944368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54296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907024" y="329184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053328" y="2834640"/>
            <a:ext cx="1234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668" y="2944368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053328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7306056" y="329184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452360" y="2834640"/>
            <a:ext cx="1234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00" y="2944368"/>
            <a:ext cx="347472" cy="3474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45236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Cutover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530352" y="3822192"/>
            <a:ext cx="9144" cy="137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530352" y="3950208"/>
            <a:ext cx="1088136" cy="91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609344" y="3822192"/>
            <a:ext cx="9144" cy="137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662940" y="3968496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662940" y="39684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1929384" y="3822192"/>
            <a:ext cx="9144" cy="137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1929384" y="3950208"/>
            <a:ext cx="2487168" cy="91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4407408" y="3822192"/>
            <a:ext cx="9144" cy="137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2761488" y="3968496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2761488" y="39684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4727448" y="3822192"/>
            <a:ext cx="9144" cy="137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4727448" y="3950208"/>
            <a:ext cx="3886200" cy="91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8604504" y="3822192"/>
            <a:ext cx="9144" cy="137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259068" y="3968496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6259068" y="39684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60" name="Text 49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to Consider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60120" y="713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RLZ defines the following mandatory requirements for migration: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0972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972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457200" y="12618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801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1161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Configuration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VPC is permitted per account and region to maintain strict network isolation standards.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20116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0116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rot="2700000">
            <a:off x="457200" y="21762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9456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CIDR Validation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23591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GSNet Routable: 180.x.x.x / 107.x.x.x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Non-routable: 10.x.x.x (Local only)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29260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9260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 rot="2700000">
            <a:off x="457200" y="30906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0896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2990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Automation Roles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68680" y="32735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Automation roles are restricted and only usable via authorized tools: Gluon, GitHub, TFE Global, Quicksilver.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" y="38404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8404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 rot="2700000">
            <a:off x="457200" y="40050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02336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68680" y="3904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Standards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68680" y="41879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Access/Secret Keys allowed. Must use OIDC configuration. Exceptions are strictly limited.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800600" y="10972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800600" y="10972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 rot="2700000">
            <a:off x="4937760" y="12618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28016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49240" y="1161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Accessibility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5349240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deployed services must be accessible via AWS Public Endpoints rather than private VPC endpoints where possible.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800600" y="20116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800600" y="20116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 rot="2700000">
            <a:off x="4937760" y="21762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194560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34924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Egress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5349240" y="23591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are provisioned with Internet access restricted to an authorized allow-list of external sites.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4800600" y="29260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4800600" y="29260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 rot="2700000">
            <a:off x="4937760" y="30906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108960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349240" y="2990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PCA Availability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5349240" y="32735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Certificate Authority (PCA) is available as a Global shared service accessible to all RLZ accounts.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4800600" y="384048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4800600" y="3840480"/>
            <a:ext cx="54864" cy="8046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 rot="2700000">
            <a:off x="4937760" y="4005072"/>
            <a:ext cx="2743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4023360"/>
            <a:ext cx="219456" cy="21945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349240" y="3904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Policy Restrictions</a:t>
            </a:r>
            <a:endParaRPr lang="en-US" sz="1300" dirty="0"/>
          </a:p>
        </p:txBody>
      </p:sp>
      <p:sp>
        <p:nvSpPr>
          <p:cNvPr id="55" name="Text 44"/>
          <p:cNvSpPr/>
          <p:nvPr/>
        </p:nvSpPr>
        <p:spPr>
          <a:xfrm>
            <a:off x="5349240" y="41879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administrative actions and permissions are explicitly limited by the new RLZ Boundary Policies.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Proposal </a:t>
            </a:r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Assessment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228600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2286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62856" y="1024128"/>
            <a:ext cx="18288" cy="3776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" y="1069848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1069848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1658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0976" y="1113739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Adaptation Plan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50976" y="1293876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roadmap to adapt configurations to new RLZ standards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61688" y="108356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61688" y="10835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01184" y="1609344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01184" y="1609344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7053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0912" y="1653235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Restricted Configs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10912" y="1833372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configurations not permitted in RLZ environment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361688" y="162306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61688" y="16230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93776" y="2148840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197096" y="2148840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24485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0976" y="2192731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Migration Method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50976" y="2372868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strategy: Big Bang vs. Parallel Cutover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61688" y="216255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361688" y="21625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901184" y="2688336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901184" y="2688336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784348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10912" y="2732227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Copy Strategy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010912" y="2912364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method: Synchronization, Backup/Restore, or Snapshot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361688" y="270205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361688" y="27020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93776" y="3227832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197096" y="3227832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323844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50976" y="3271723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IaC Automation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50976" y="3451860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full automation of AWS service deployment &amp; config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361688" y="32415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361688" y="32415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901184" y="3767328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901184" y="3767328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3863340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010912" y="3811219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Analysis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5010912" y="3991356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request necessary network flows and FW rules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4361688" y="378104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4361688" y="37810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493776" y="4306824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4197096" y="4306824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4402836"/>
            <a:ext cx="256032" cy="25603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50976" y="4350715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Permissions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950976" y="4530852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out required roles and permissions for the new account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4361688" y="43205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4361688" y="43205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9" name="Shape 4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61" name="Text 51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Proposal </a:t>
            </a:r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&amp; Onboarding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228600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2286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62856" y="1024128"/>
            <a:ext cx="18288" cy="3776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" y="1069848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1069848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1658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0976" y="1113739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RLZ Account Onboarding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50976" y="1293876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new IPs, Firewall rules, and IAM roles for the target environment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61688" y="108356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61688" y="10835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01184" y="1609344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01184" y="1609344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7053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0912" y="1653235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Migration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10912" y="1833372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SCIB Gluon Components (independent/TFE) if not already using Gluon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361688" y="162306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61688" y="16230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93776" y="2148840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197096" y="2148840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24485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0976" y="2192731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Adaptation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50976" y="2372868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necessary changes identified during the assessment phase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61688" y="216255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361688" y="21625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901184" y="2688336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901184" y="2688336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784348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10912" y="2732227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Deployment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010912" y="2912364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all AWS services to the new account using automated Gluon pipelines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361688" y="270205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361688" y="27020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93776" y="3227832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197096" y="3227832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323844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50976" y="3271723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Testing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50976" y="3451860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unit tests to verify individual service functionality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361688" y="32415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361688" y="32415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901184" y="3767328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901184" y="3767328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3863340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010912" y="3811219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5010912" y="3991356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initial data copy and establish synchronization mechanisms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4361688" y="378104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4361688" y="37810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493776" y="4306824"/>
            <a:ext cx="3749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4197096" y="4306824"/>
            <a:ext cx="45720" cy="4480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4402836"/>
            <a:ext cx="256032" cy="25603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50976" y="4350715"/>
            <a:ext cx="3172968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Testing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950976" y="4530852"/>
            <a:ext cx="3172968" cy="1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full project implementation in the new RLZ environment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4361688" y="43205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4361688" y="43205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9" name="Shape 4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61" name="Text 51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Proposal </a:t>
            </a:r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228600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2286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62856" y="1024128"/>
            <a:ext cx="18288" cy="3776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" y="1069848"/>
            <a:ext cx="3749040" cy="6638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1069848"/>
            <a:ext cx="45720" cy="66385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273759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0976" y="1113739"/>
            <a:ext cx="3172968" cy="31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Cutover Plan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50976" y="1401775"/>
            <a:ext cx="3172968" cy="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detailed migration sequence for the new RLZ account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61688" y="1191463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61688" y="119146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01184" y="1825142"/>
            <a:ext cx="3749040" cy="6638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01184" y="1825142"/>
            <a:ext cx="45720" cy="66385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2905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0912" y="1869034"/>
            <a:ext cx="3172968" cy="31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10912" y="2157070"/>
            <a:ext cx="3172968" cy="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comprehensive testing criteria to verify success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361688" y="194675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61688" y="194675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93776" y="2580437"/>
            <a:ext cx="3749040" cy="6638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197096" y="2580437"/>
            <a:ext cx="45720" cy="66385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784348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0976" y="2624328"/>
            <a:ext cx="3172968" cy="31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Production Config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50976" y="2912364"/>
            <a:ext cx="3172968" cy="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readiness: Monitoring, Backup policies, CMDB registration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61688" y="270205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361688" y="27020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901184" y="3335731"/>
            <a:ext cx="3749040" cy="6638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901184" y="3335731"/>
            <a:ext cx="45720" cy="66385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3539642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10912" y="3379622"/>
            <a:ext cx="3172968" cy="31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Migration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010912" y="3667658"/>
            <a:ext cx="3172968" cy="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official maintenance window for production cutover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361688" y="345734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361688" y="345734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93776" y="4091026"/>
            <a:ext cx="3749040" cy="6638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197096" y="4091026"/>
            <a:ext cx="45720" cy="66385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50976" y="4134917"/>
            <a:ext cx="3172968" cy="31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Validate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950976" y="4422953"/>
            <a:ext cx="3172968" cy="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migration steps and sign off on successful deployment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4361688" y="4212641"/>
            <a:ext cx="420624" cy="420624"/>
          </a:xfrm>
          <a:prstGeom prst="ellipse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4267505"/>
            <a:ext cx="310896" cy="310896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60120" y="6583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to initiate the migration program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0584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005840"/>
            <a:ext cx="4206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060704"/>
            <a:ext cx="420624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84632" y="1207008"/>
            <a:ext cx="502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11338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9728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Project Manager to oversee the initiative, ensuring coordination across all teams and stakeholders.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0060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0600" y="100584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00600" y="1005840"/>
            <a:ext cx="4206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0600" y="1060704"/>
            <a:ext cx="420624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75320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23" name="Shape 19"/>
          <p:cNvSpPr/>
          <p:nvPr/>
        </p:nvSpPr>
        <p:spPr>
          <a:xfrm>
            <a:off x="4965192" y="1207008"/>
            <a:ext cx="502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25296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77840" y="11338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Owners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57784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dedicated owner for each project to ensure clear accountability and direct communication channels.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2004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20040" y="237744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20040" y="2377440"/>
            <a:ext cx="4206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2432304"/>
            <a:ext cx="420624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794760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32" name="Shape 27"/>
          <p:cNvSpPr/>
          <p:nvPr/>
        </p:nvSpPr>
        <p:spPr>
          <a:xfrm>
            <a:off x="484632" y="2578608"/>
            <a:ext cx="502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96896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97280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Priorities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097280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agree on migration priorities based on technical complexity, business criticality, and dependencies.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80060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800600" y="237744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800600" y="2377440"/>
            <a:ext cx="4206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800600" y="2432304"/>
            <a:ext cx="420624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275320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Shape 35"/>
          <p:cNvSpPr/>
          <p:nvPr/>
        </p:nvSpPr>
        <p:spPr>
          <a:xfrm>
            <a:off x="4965192" y="2578608"/>
            <a:ext cx="502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96896"/>
            <a:ext cx="457200" cy="4572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577840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Sessions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5577840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regular cross-team working sessions to track progress, resolve blockers, and share knowledge.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20040" y="3794760"/>
            <a:ext cx="850392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772400" y="38862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>
                    <a:alpha val="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48" name="Shape 41"/>
          <p:cNvSpPr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995928"/>
            <a:ext cx="457200" cy="4572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143000" y="38862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 CONSOLIDATION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1143000" y="420624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all inputs into a comprehensive master plan covering detailed scope, timelines, inter-project dependencies, resource allocation, and budget requirements.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9144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05256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1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Accounts Inventory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60120" y="6217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Scope Overview &amp; Environment 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12801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347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Projects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28600" y="987552"/>
            <a:ext cx="8778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" y="1307592"/>
            <a:ext cx="8778240" cy="274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9875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987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Name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31920" y="987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/ Owner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9875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60920" y="9875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183880" y="98755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1335024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133502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" y="133502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06624" y="133502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151376" y="137160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13624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53712" y="137160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53712" y="13624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56048" y="137160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13624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" y="1513332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151333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8368" y="151333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706624" y="151333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151376" y="154990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51376" y="15407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53712" y="154990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53712" y="15407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19472" y="1513332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28600" y="1691640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1691640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58368" y="1691640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Balancer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706624" y="1691640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151376" y="172821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51376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53712" y="172821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53712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956048" y="172821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56048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28600" y="1869948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74320" y="1869948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58368" y="1869948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API Connect CIB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706624" y="1869948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151376" y="190652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151376" y="18973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553712" y="190652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553712" y="18973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956048" y="190652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956048" y="18973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28600" y="2048256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2048256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58368" y="2048256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2706624" y="2048256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151376" y="208483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151376" y="20756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517136" y="2048256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919472" y="2048256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228600" y="2226564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74320" y="222656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58368" y="222656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Fnality Connect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2706624" y="222656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4151376" y="226314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151376" y="22539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4553712" y="226314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553712" y="22539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4956048" y="226314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956048" y="22539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228600" y="2404872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74320" y="240487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658368" y="240487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2706624" y="240487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4151376" y="244144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151376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4553712" y="244144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553712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4956048" y="244144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956048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228600" y="2583180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74320" y="2583180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658368" y="2583180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Sigom Evolution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2706624" y="2583180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4151376" y="261975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151376" y="26106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4553712" y="261975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553712" y="26106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956048" y="261975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956048" y="26106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228600" y="2761488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274320" y="2761488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658368" y="2761488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Cloud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2706624" y="2761488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4151376" y="279806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4151376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4553712" y="279806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4553712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4956048" y="279806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4956048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228600" y="2939796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2939796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07" name="Text 104"/>
          <p:cNvSpPr/>
          <p:nvPr/>
        </p:nvSpPr>
        <p:spPr>
          <a:xfrm>
            <a:off x="658368" y="2939796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MarketFit Cloud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2706624" y="2939796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09" name="Shape 106"/>
          <p:cNvSpPr/>
          <p:nvPr/>
        </p:nvSpPr>
        <p:spPr>
          <a:xfrm>
            <a:off x="4151376" y="297637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4151376" y="29672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1" name="Shape 108"/>
          <p:cNvSpPr/>
          <p:nvPr/>
        </p:nvSpPr>
        <p:spPr>
          <a:xfrm>
            <a:off x="4553712" y="297637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553712" y="29672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4956048" y="297637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4956048" y="29672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228600" y="3118104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74320" y="311810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7" name="Text 114"/>
          <p:cNvSpPr/>
          <p:nvPr/>
        </p:nvSpPr>
        <p:spPr>
          <a:xfrm>
            <a:off x="658368" y="311810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Secfin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2706624" y="311810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19" name="Shape 116"/>
          <p:cNvSpPr/>
          <p:nvPr/>
        </p:nvSpPr>
        <p:spPr>
          <a:xfrm>
            <a:off x="4151376" y="315468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4151376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4553712" y="315468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4553712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3" name="Shape 120"/>
          <p:cNvSpPr/>
          <p:nvPr/>
        </p:nvSpPr>
        <p:spPr>
          <a:xfrm>
            <a:off x="4956048" y="315468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4956048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228600" y="3296412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274320" y="329641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658368" y="329641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AWS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2706624" y="329641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4151376" y="333298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4151376" y="33238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1" name="Shape 128"/>
          <p:cNvSpPr/>
          <p:nvPr/>
        </p:nvSpPr>
        <p:spPr>
          <a:xfrm>
            <a:off x="4553712" y="333298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4553712" y="33238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3" name="Shape 130"/>
          <p:cNvSpPr/>
          <p:nvPr/>
        </p:nvSpPr>
        <p:spPr>
          <a:xfrm>
            <a:off x="4956048" y="333298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4956048" y="33238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5" name="Shape 132"/>
          <p:cNvSpPr/>
          <p:nvPr/>
        </p:nvSpPr>
        <p:spPr>
          <a:xfrm>
            <a:off x="228600" y="3474720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274320" y="3474720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7" name="Text 134"/>
          <p:cNvSpPr/>
          <p:nvPr/>
        </p:nvSpPr>
        <p:spPr>
          <a:xfrm>
            <a:off x="658368" y="3474720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Receivables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2706624" y="3474720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39" name="Shape 136"/>
          <p:cNvSpPr/>
          <p:nvPr/>
        </p:nvSpPr>
        <p:spPr>
          <a:xfrm>
            <a:off x="4151376" y="351129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4151376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1" name="Shape 138"/>
          <p:cNvSpPr/>
          <p:nvPr/>
        </p:nvSpPr>
        <p:spPr>
          <a:xfrm>
            <a:off x="4553712" y="351129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4553712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3" name="Shape 140"/>
          <p:cNvSpPr/>
          <p:nvPr/>
        </p:nvSpPr>
        <p:spPr>
          <a:xfrm>
            <a:off x="4956048" y="351129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4956048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5" name="Shape 142"/>
          <p:cNvSpPr/>
          <p:nvPr/>
        </p:nvSpPr>
        <p:spPr>
          <a:xfrm>
            <a:off x="228600" y="3653028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274320" y="3653028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47" name="Text 144"/>
          <p:cNvSpPr/>
          <p:nvPr/>
        </p:nvSpPr>
        <p:spPr>
          <a:xfrm>
            <a:off x="658368" y="3653028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Governance Tool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2706624" y="3653028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49" name="Shape 146"/>
          <p:cNvSpPr/>
          <p:nvPr/>
        </p:nvSpPr>
        <p:spPr>
          <a:xfrm>
            <a:off x="4151376" y="368960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4151376" y="36804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1" name="Text 148"/>
          <p:cNvSpPr/>
          <p:nvPr/>
        </p:nvSpPr>
        <p:spPr>
          <a:xfrm>
            <a:off x="4517136" y="3653028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152" name="Text 149"/>
          <p:cNvSpPr/>
          <p:nvPr/>
        </p:nvSpPr>
        <p:spPr>
          <a:xfrm>
            <a:off x="4919472" y="3653028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153" name="Shape 150"/>
          <p:cNvSpPr/>
          <p:nvPr/>
        </p:nvSpPr>
        <p:spPr>
          <a:xfrm>
            <a:off x="228600" y="3831336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274320" y="3831336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55" name="Text 152"/>
          <p:cNvSpPr/>
          <p:nvPr/>
        </p:nvSpPr>
        <p:spPr>
          <a:xfrm>
            <a:off x="658368" y="3831336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</a:t>
            </a:r>
            <a:endParaRPr lang="en-US" sz="900" dirty="0"/>
          </a:p>
        </p:txBody>
      </p:sp>
      <p:sp>
        <p:nvSpPr>
          <p:cNvPr id="156" name="Text 153"/>
          <p:cNvSpPr/>
          <p:nvPr/>
        </p:nvSpPr>
        <p:spPr>
          <a:xfrm>
            <a:off x="2706624" y="3831336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57" name="Shape 154"/>
          <p:cNvSpPr/>
          <p:nvPr/>
        </p:nvSpPr>
        <p:spPr>
          <a:xfrm>
            <a:off x="4151376" y="386791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4151376" y="3858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9" name="Shape 156"/>
          <p:cNvSpPr/>
          <p:nvPr/>
        </p:nvSpPr>
        <p:spPr>
          <a:xfrm>
            <a:off x="4553712" y="386791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4553712" y="3858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1" name="Shape 158"/>
          <p:cNvSpPr/>
          <p:nvPr/>
        </p:nvSpPr>
        <p:spPr>
          <a:xfrm>
            <a:off x="4956048" y="386791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4956048" y="3858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3" name="Shape 160"/>
          <p:cNvSpPr/>
          <p:nvPr/>
        </p:nvSpPr>
        <p:spPr>
          <a:xfrm>
            <a:off x="228600" y="4009644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274320" y="400964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65" name="Text 162"/>
          <p:cNvSpPr/>
          <p:nvPr/>
        </p:nvSpPr>
        <p:spPr>
          <a:xfrm>
            <a:off x="658368" y="400964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Murex 3.1 Europe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2706624" y="400964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51376" y="404622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4151376" y="40370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4553712" y="404622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4553712" y="40370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4956048" y="404622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4956048" y="40370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228600" y="4187952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274320" y="418795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75" name="Text 172"/>
          <p:cNvSpPr/>
          <p:nvPr/>
        </p:nvSpPr>
        <p:spPr>
          <a:xfrm>
            <a:off x="658368" y="418795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Baltra Curve Server</a:t>
            </a:r>
            <a:endParaRPr lang="en-US" sz="900" dirty="0"/>
          </a:p>
        </p:txBody>
      </p:sp>
      <p:sp>
        <p:nvSpPr>
          <p:cNvPr id="176" name="Text 173"/>
          <p:cNvSpPr/>
          <p:nvPr/>
        </p:nvSpPr>
        <p:spPr>
          <a:xfrm>
            <a:off x="2706624" y="418795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77" name="Shape 174"/>
          <p:cNvSpPr/>
          <p:nvPr/>
        </p:nvSpPr>
        <p:spPr>
          <a:xfrm>
            <a:off x="4151376" y="422452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4151376" y="4215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4553712" y="422452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4553712" y="4215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4956048" y="422452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4956048" y="4215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4617720" y="1335024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4663440" y="133502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5047488" y="133502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</a:t>
            </a:r>
            <a:endParaRPr lang="en-US" sz="900" dirty="0"/>
          </a:p>
        </p:txBody>
      </p:sp>
      <p:sp>
        <p:nvSpPr>
          <p:cNvPr id="186" name="Text 183"/>
          <p:cNvSpPr/>
          <p:nvPr/>
        </p:nvSpPr>
        <p:spPr>
          <a:xfrm>
            <a:off x="7095744" y="133502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87" name="Shape 184"/>
          <p:cNvSpPr/>
          <p:nvPr/>
        </p:nvSpPr>
        <p:spPr>
          <a:xfrm>
            <a:off x="8540496" y="137160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8540496" y="13624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8942832" y="137160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8942832" y="13624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9345168" y="137160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9345168" y="13624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4617720" y="1513332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4663440" y="151333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95" name="Text 192"/>
          <p:cNvSpPr/>
          <p:nvPr/>
        </p:nvSpPr>
        <p:spPr>
          <a:xfrm>
            <a:off x="5047488" y="151333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HUB QlikSense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7095744" y="151333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197" name="Shape 194"/>
          <p:cNvSpPr/>
          <p:nvPr/>
        </p:nvSpPr>
        <p:spPr>
          <a:xfrm>
            <a:off x="8540496" y="154990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8540496" y="15407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8942832" y="154990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8942832" y="15407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9345168" y="154990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9345168" y="15407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3" name="Shape 200"/>
          <p:cNvSpPr/>
          <p:nvPr/>
        </p:nvSpPr>
        <p:spPr>
          <a:xfrm>
            <a:off x="4617720" y="1691640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4663440" y="1691640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05" name="Text 202"/>
          <p:cNvSpPr/>
          <p:nvPr/>
        </p:nvSpPr>
        <p:spPr>
          <a:xfrm>
            <a:off x="5047488" y="1691640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ORBE</a:t>
            </a:r>
            <a:endParaRPr lang="en-US" sz="900" dirty="0"/>
          </a:p>
        </p:txBody>
      </p:sp>
      <p:sp>
        <p:nvSpPr>
          <p:cNvPr id="206" name="Text 203"/>
          <p:cNvSpPr/>
          <p:nvPr/>
        </p:nvSpPr>
        <p:spPr>
          <a:xfrm>
            <a:off x="7095744" y="1691640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07" name="Shape 204"/>
          <p:cNvSpPr/>
          <p:nvPr/>
        </p:nvSpPr>
        <p:spPr>
          <a:xfrm>
            <a:off x="8540496" y="172821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8540496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9" name="Shape 206"/>
          <p:cNvSpPr/>
          <p:nvPr/>
        </p:nvSpPr>
        <p:spPr>
          <a:xfrm>
            <a:off x="8942832" y="172821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8942832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1" name="Shape 208"/>
          <p:cNvSpPr/>
          <p:nvPr/>
        </p:nvSpPr>
        <p:spPr>
          <a:xfrm>
            <a:off x="9345168" y="172821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2" name="Text 209"/>
          <p:cNvSpPr/>
          <p:nvPr/>
        </p:nvSpPr>
        <p:spPr>
          <a:xfrm>
            <a:off x="9345168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3" name="Shape 210"/>
          <p:cNvSpPr/>
          <p:nvPr/>
        </p:nvSpPr>
        <p:spPr>
          <a:xfrm>
            <a:off x="4617720" y="1869948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4663440" y="1869948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15" name="Text 212"/>
          <p:cNvSpPr/>
          <p:nvPr/>
        </p:nvSpPr>
        <p:spPr>
          <a:xfrm>
            <a:off x="5047488" y="1869948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Discount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7095744" y="1869948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17" name="Shape 214"/>
          <p:cNvSpPr/>
          <p:nvPr/>
        </p:nvSpPr>
        <p:spPr>
          <a:xfrm>
            <a:off x="8540496" y="190652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8" name="Text 215"/>
          <p:cNvSpPr/>
          <p:nvPr/>
        </p:nvSpPr>
        <p:spPr>
          <a:xfrm>
            <a:off x="8540496" y="18973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8942832" y="190652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8942832" y="18973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9345168" y="190652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9345168" y="18973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4617720" y="2048256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4663440" y="2048256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25" name="Text 222"/>
          <p:cNvSpPr/>
          <p:nvPr/>
        </p:nvSpPr>
        <p:spPr>
          <a:xfrm>
            <a:off x="5047488" y="2048256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7095744" y="2048256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27" name="Shape 224"/>
          <p:cNvSpPr/>
          <p:nvPr/>
        </p:nvSpPr>
        <p:spPr>
          <a:xfrm>
            <a:off x="8540496" y="208483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8540496" y="20756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9" name="Shape 226"/>
          <p:cNvSpPr/>
          <p:nvPr/>
        </p:nvSpPr>
        <p:spPr>
          <a:xfrm>
            <a:off x="8942832" y="208483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0" name="Text 227"/>
          <p:cNvSpPr/>
          <p:nvPr/>
        </p:nvSpPr>
        <p:spPr>
          <a:xfrm>
            <a:off x="8942832" y="20756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1" name="Shape 228"/>
          <p:cNvSpPr/>
          <p:nvPr/>
        </p:nvSpPr>
        <p:spPr>
          <a:xfrm>
            <a:off x="9345168" y="208483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2" name="Text 229"/>
          <p:cNvSpPr/>
          <p:nvPr/>
        </p:nvSpPr>
        <p:spPr>
          <a:xfrm>
            <a:off x="9345168" y="20756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3" name="Shape 230"/>
          <p:cNvSpPr/>
          <p:nvPr/>
        </p:nvSpPr>
        <p:spPr>
          <a:xfrm>
            <a:off x="4617720" y="2226564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4663440" y="222656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235" name="Text 232"/>
          <p:cNvSpPr/>
          <p:nvPr/>
        </p:nvSpPr>
        <p:spPr>
          <a:xfrm>
            <a:off x="5047488" y="222656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KOLT</a:t>
            </a:r>
            <a:endParaRPr lang="en-US" sz="900" dirty="0"/>
          </a:p>
        </p:txBody>
      </p:sp>
      <p:sp>
        <p:nvSpPr>
          <p:cNvPr id="236" name="Text 233"/>
          <p:cNvSpPr/>
          <p:nvPr/>
        </p:nvSpPr>
        <p:spPr>
          <a:xfrm>
            <a:off x="7095744" y="222656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37" name="Shape 234"/>
          <p:cNvSpPr/>
          <p:nvPr/>
        </p:nvSpPr>
        <p:spPr>
          <a:xfrm>
            <a:off x="8540496" y="226314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8540496" y="22539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9" name="Shape 236"/>
          <p:cNvSpPr/>
          <p:nvPr/>
        </p:nvSpPr>
        <p:spPr>
          <a:xfrm>
            <a:off x="8942832" y="226314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942832" y="22539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1" name="Shape 238"/>
          <p:cNvSpPr/>
          <p:nvPr/>
        </p:nvSpPr>
        <p:spPr>
          <a:xfrm>
            <a:off x="9345168" y="226314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2" name="Text 239"/>
          <p:cNvSpPr/>
          <p:nvPr/>
        </p:nvSpPr>
        <p:spPr>
          <a:xfrm>
            <a:off x="9345168" y="22539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3" name="Shape 240"/>
          <p:cNvSpPr/>
          <p:nvPr/>
        </p:nvSpPr>
        <p:spPr>
          <a:xfrm>
            <a:off x="4617720" y="2404872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4" name="Text 241"/>
          <p:cNvSpPr/>
          <p:nvPr/>
        </p:nvSpPr>
        <p:spPr>
          <a:xfrm>
            <a:off x="4663440" y="240487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45" name="Text 242"/>
          <p:cNvSpPr/>
          <p:nvPr/>
        </p:nvSpPr>
        <p:spPr>
          <a:xfrm>
            <a:off x="5047488" y="240487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7095744" y="240487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47" name="Shape 244"/>
          <p:cNvSpPr/>
          <p:nvPr/>
        </p:nvSpPr>
        <p:spPr>
          <a:xfrm>
            <a:off x="8540496" y="244144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540496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9" name="Shape 246"/>
          <p:cNvSpPr/>
          <p:nvPr/>
        </p:nvSpPr>
        <p:spPr>
          <a:xfrm>
            <a:off x="8942832" y="244144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0" name="Text 247"/>
          <p:cNvSpPr/>
          <p:nvPr/>
        </p:nvSpPr>
        <p:spPr>
          <a:xfrm>
            <a:off x="8942832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345168" y="244144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9345168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3" name="Shape 250"/>
          <p:cNvSpPr/>
          <p:nvPr/>
        </p:nvSpPr>
        <p:spPr>
          <a:xfrm>
            <a:off x="4617720" y="2583180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54" name="Text 251"/>
          <p:cNvSpPr/>
          <p:nvPr/>
        </p:nvSpPr>
        <p:spPr>
          <a:xfrm>
            <a:off x="4663440" y="2583180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047488" y="2583180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</a:t>
            </a:r>
            <a:endParaRPr lang="en-US" sz="900" dirty="0"/>
          </a:p>
        </p:txBody>
      </p:sp>
      <p:sp>
        <p:nvSpPr>
          <p:cNvPr id="256" name="Text 253"/>
          <p:cNvSpPr/>
          <p:nvPr/>
        </p:nvSpPr>
        <p:spPr>
          <a:xfrm>
            <a:off x="7095744" y="2583180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57" name="Shape 254"/>
          <p:cNvSpPr/>
          <p:nvPr/>
        </p:nvSpPr>
        <p:spPr>
          <a:xfrm>
            <a:off x="8540496" y="261975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540496" y="26106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9" name="Shape 256"/>
          <p:cNvSpPr/>
          <p:nvPr/>
        </p:nvSpPr>
        <p:spPr>
          <a:xfrm>
            <a:off x="8942832" y="261975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0" name="Text 257"/>
          <p:cNvSpPr/>
          <p:nvPr/>
        </p:nvSpPr>
        <p:spPr>
          <a:xfrm>
            <a:off x="8942832" y="26106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345168" y="261975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2" name="Text 259"/>
          <p:cNvSpPr/>
          <p:nvPr/>
        </p:nvSpPr>
        <p:spPr>
          <a:xfrm>
            <a:off x="9345168" y="26106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3" name="Shape 260"/>
          <p:cNvSpPr/>
          <p:nvPr/>
        </p:nvSpPr>
        <p:spPr>
          <a:xfrm>
            <a:off x="4617720" y="2761488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4" name="Text 261"/>
          <p:cNvSpPr/>
          <p:nvPr/>
        </p:nvSpPr>
        <p:spPr>
          <a:xfrm>
            <a:off x="4663440" y="2761488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265" name="Text 262"/>
          <p:cNvSpPr/>
          <p:nvPr/>
        </p:nvSpPr>
        <p:spPr>
          <a:xfrm>
            <a:off x="5047488" y="2761488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Model Company</a:t>
            </a:r>
            <a:endParaRPr lang="en-US" sz="900" dirty="0"/>
          </a:p>
        </p:txBody>
      </p:sp>
      <p:sp>
        <p:nvSpPr>
          <p:cNvPr id="266" name="Text 263"/>
          <p:cNvSpPr/>
          <p:nvPr/>
        </p:nvSpPr>
        <p:spPr>
          <a:xfrm>
            <a:off x="7095744" y="2761488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67" name="Shape 264"/>
          <p:cNvSpPr/>
          <p:nvPr/>
        </p:nvSpPr>
        <p:spPr>
          <a:xfrm>
            <a:off x="8540496" y="279806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540496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9" name="Shape 266"/>
          <p:cNvSpPr/>
          <p:nvPr/>
        </p:nvSpPr>
        <p:spPr>
          <a:xfrm>
            <a:off x="8942832" y="279806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0" name="Text 267"/>
          <p:cNvSpPr/>
          <p:nvPr/>
        </p:nvSpPr>
        <p:spPr>
          <a:xfrm>
            <a:off x="8942832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345168" y="279806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2" name="Text 269"/>
          <p:cNvSpPr/>
          <p:nvPr/>
        </p:nvSpPr>
        <p:spPr>
          <a:xfrm>
            <a:off x="9345168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3" name="Shape 270"/>
          <p:cNvSpPr/>
          <p:nvPr/>
        </p:nvSpPr>
        <p:spPr>
          <a:xfrm>
            <a:off x="4617720" y="2939796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74" name="Text 271"/>
          <p:cNvSpPr/>
          <p:nvPr/>
        </p:nvSpPr>
        <p:spPr>
          <a:xfrm>
            <a:off x="4663440" y="2939796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275" name="Text 272"/>
          <p:cNvSpPr/>
          <p:nvPr/>
        </p:nvSpPr>
        <p:spPr>
          <a:xfrm>
            <a:off x="5047488" y="2939796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ForgeRock CIAM</a:t>
            </a:r>
            <a:endParaRPr lang="en-US" sz="900" dirty="0"/>
          </a:p>
        </p:txBody>
      </p:sp>
      <p:sp>
        <p:nvSpPr>
          <p:cNvPr id="276" name="Text 273"/>
          <p:cNvSpPr/>
          <p:nvPr/>
        </p:nvSpPr>
        <p:spPr>
          <a:xfrm>
            <a:off x="7095744" y="2939796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77" name="Shape 274"/>
          <p:cNvSpPr/>
          <p:nvPr/>
        </p:nvSpPr>
        <p:spPr>
          <a:xfrm>
            <a:off x="8540496" y="297637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540496" y="29672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9" name="Shape 276"/>
          <p:cNvSpPr/>
          <p:nvPr/>
        </p:nvSpPr>
        <p:spPr>
          <a:xfrm>
            <a:off x="8942832" y="297637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0" name="Text 277"/>
          <p:cNvSpPr/>
          <p:nvPr/>
        </p:nvSpPr>
        <p:spPr>
          <a:xfrm>
            <a:off x="8942832" y="29672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1" name="Shape 278"/>
          <p:cNvSpPr/>
          <p:nvPr/>
        </p:nvSpPr>
        <p:spPr>
          <a:xfrm>
            <a:off x="9345168" y="297637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2" name="Text 279"/>
          <p:cNvSpPr/>
          <p:nvPr/>
        </p:nvSpPr>
        <p:spPr>
          <a:xfrm>
            <a:off x="9345168" y="29672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3" name="Shape 280"/>
          <p:cNvSpPr/>
          <p:nvPr/>
        </p:nvSpPr>
        <p:spPr>
          <a:xfrm>
            <a:off x="4617720" y="3118104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4663440" y="311810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285" name="Text 282"/>
          <p:cNvSpPr/>
          <p:nvPr/>
        </p:nvSpPr>
        <p:spPr>
          <a:xfrm>
            <a:off x="5047488" y="311810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DICTE</a:t>
            </a:r>
            <a:endParaRPr lang="en-US" sz="900" dirty="0"/>
          </a:p>
        </p:txBody>
      </p:sp>
      <p:sp>
        <p:nvSpPr>
          <p:cNvPr id="286" name="Text 283"/>
          <p:cNvSpPr/>
          <p:nvPr/>
        </p:nvSpPr>
        <p:spPr>
          <a:xfrm>
            <a:off x="7095744" y="311810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87" name="Shape 284"/>
          <p:cNvSpPr/>
          <p:nvPr/>
        </p:nvSpPr>
        <p:spPr>
          <a:xfrm>
            <a:off x="8540496" y="315468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540496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9" name="Shape 286"/>
          <p:cNvSpPr/>
          <p:nvPr/>
        </p:nvSpPr>
        <p:spPr>
          <a:xfrm>
            <a:off x="8942832" y="315468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0" name="Text 287"/>
          <p:cNvSpPr/>
          <p:nvPr/>
        </p:nvSpPr>
        <p:spPr>
          <a:xfrm>
            <a:off x="8942832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1" name="Shape 288"/>
          <p:cNvSpPr/>
          <p:nvPr/>
        </p:nvSpPr>
        <p:spPr>
          <a:xfrm>
            <a:off x="9345168" y="315468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2" name="Text 289"/>
          <p:cNvSpPr/>
          <p:nvPr/>
        </p:nvSpPr>
        <p:spPr>
          <a:xfrm>
            <a:off x="9345168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3" name="Shape 290"/>
          <p:cNvSpPr/>
          <p:nvPr/>
        </p:nvSpPr>
        <p:spPr>
          <a:xfrm>
            <a:off x="4617720" y="3296412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94" name="Text 291"/>
          <p:cNvSpPr/>
          <p:nvPr/>
        </p:nvSpPr>
        <p:spPr>
          <a:xfrm>
            <a:off x="4663440" y="329641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95" name="Text 292"/>
          <p:cNvSpPr/>
          <p:nvPr/>
        </p:nvSpPr>
        <p:spPr>
          <a:xfrm>
            <a:off x="5047488" y="329641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</a:t>
            </a:r>
            <a:endParaRPr lang="en-US" sz="900" dirty="0"/>
          </a:p>
        </p:txBody>
      </p:sp>
      <p:sp>
        <p:nvSpPr>
          <p:cNvPr id="296" name="Text 293"/>
          <p:cNvSpPr/>
          <p:nvPr/>
        </p:nvSpPr>
        <p:spPr>
          <a:xfrm>
            <a:off x="7095744" y="329641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297" name="Shape 294"/>
          <p:cNvSpPr/>
          <p:nvPr/>
        </p:nvSpPr>
        <p:spPr>
          <a:xfrm>
            <a:off x="8540496" y="333298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540496" y="33238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9" name="Shape 296"/>
          <p:cNvSpPr/>
          <p:nvPr/>
        </p:nvSpPr>
        <p:spPr>
          <a:xfrm>
            <a:off x="8942832" y="333298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0" name="Text 297"/>
          <p:cNvSpPr/>
          <p:nvPr/>
        </p:nvSpPr>
        <p:spPr>
          <a:xfrm>
            <a:off x="8942832" y="33238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9345168" y="333298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2" name="Text 299"/>
          <p:cNvSpPr/>
          <p:nvPr/>
        </p:nvSpPr>
        <p:spPr>
          <a:xfrm>
            <a:off x="9345168" y="33238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4617720" y="3474720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4" name="Text 301"/>
          <p:cNvSpPr/>
          <p:nvPr/>
        </p:nvSpPr>
        <p:spPr>
          <a:xfrm>
            <a:off x="4663440" y="3474720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05" name="Text 302"/>
          <p:cNvSpPr/>
          <p:nvPr/>
        </p:nvSpPr>
        <p:spPr>
          <a:xfrm>
            <a:off x="5047488" y="3474720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 AWS CROSS</a:t>
            </a:r>
            <a:endParaRPr lang="en-US" sz="900" dirty="0"/>
          </a:p>
        </p:txBody>
      </p:sp>
      <p:sp>
        <p:nvSpPr>
          <p:cNvPr id="306" name="Text 303"/>
          <p:cNvSpPr/>
          <p:nvPr/>
        </p:nvSpPr>
        <p:spPr>
          <a:xfrm>
            <a:off x="7095744" y="3474720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307" name="Shape 304"/>
          <p:cNvSpPr/>
          <p:nvPr/>
        </p:nvSpPr>
        <p:spPr>
          <a:xfrm>
            <a:off x="8540496" y="351129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540496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8942832" y="351129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0" name="Text 307"/>
          <p:cNvSpPr/>
          <p:nvPr/>
        </p:nvSpPr>
        <p:spPr>
          <a:xfrm>
            <a:off x="8942832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1" name="Shape 308"/>
          <p:cNvSpPr/>
          <p:nvPr/>
        </p:nvSpPr>
        <p:spPr>
          <a:xfrm>
            <a:off x="9345168" y="3511296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2" name="Text 309"/>
          <p:cNvSpPr/>
          <p:nvPr/>
        </p:nvSpPr>
        <p:spPr>
          <a:xfrm>
            <a:off x="9345168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3" name="Shape 310"/>
          <p:cNvSpPr/>
          <p:nvPr/>
        </p:nvSpPr>
        <p:spPr>
          <a:xfrm>
            <a:off x="4617720" y="3653028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14" name="Text 311"/>
          <p:cNvSpPr/>
          <p:nvPr/>
        </p:nvSpPr>
        <p:spPr>
          <a:xfrm>
            <a:off x="4663440" y="3653028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15" name="Text 312"/>
          <p:cNvSpPr/>
          <p:nvPr/>
        </p:nvSpPr>
        <p:spPr>
          <a:xfrm>
            <a:off x="5047488" y="3653028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CTO IAC</a:t>
            </a:r>
            <a:endParaRPr lang="en-US" sz="900" dirty="0"/>
          </a:p>
        </p:txBody>
      </p:sp>
      <p:sp>
        <p:nvSpPr>
          <p:cNvPr id="316" name="Text 313"/>
          <p:cNvSpPr/>
          <p:nvPr/>
        </p:nvSpPr>
        <p:spPr>
          <a:xfrm>
            <a:off x="7095744" y="3653028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317" name="Shape 314"/>
          <p:cNvSpPr/>
          <p:nvPr/>
        </p:nvSpPr>
        <p:spPr>
          <a:xfrm>
            <a:off x="8540496" y="3689604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8" name="Text 315"/>
          <p:cNvSpPr/>
          <p:nvPr/>
        </p:nvSpPr>
        <p:spPr>
          <a:xfrm>
            <a:off x="8540496" y="36804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9" name="Text 316"/>
          <p:cNvSpPr/>
          <p:nvPr/>
        </p:nvSpPr>
        <p:spPr>
          <a:xfrm>
            <a:off x="8906256" y="3653028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20" name="Text 317"/>
          <p:cNvSpPr/>
          <p:nvPr/>
        </p:nvSpPr>
        <p:spPr>
          <a:xfrm>
            <a:off x="9308592" y="3653028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21" name="Shape 318"/>
          <p:cNvSpPr/>
          <p:nvPr/>
        </p:nvSpPr>
        <p:spPr>
          <a:xfrm>
            <a:off x="4617720" y="3831336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2" name="Text 319"/>
          <p:cNvSpPr/>
          <p:nvPr/>
        </p:nvSpPr>
        <p:spPr>
          <a:xfrm>
            <a:off x="4663440" y="3831336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23" name="Text 320"/>
          <p:cNvSpPr/>
          <p:nvPr/>
        </p:nvSpPr>
        <p:spPr>
          <a:xfrm>
            <a:off x="5047488" y="3831336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Produccion</a:t>
            </a:r>
            <a:endParaRPr lang="en-US" sz="900" dirty="0"/>
          </a:p>
        </p:txBody>
      </p:sp>
      <p:sp>
        <p:nvSpPr>
          <p:cNvPr id="324" name="Text 321"/>
          <p:cNvSpPr/>
          <p:nvPr/>
        </p:nvSpPr>
        <p:spPr>
          <a:xfrm>
            <a:off x="7095744" y="3831336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325" name="Text 322"/>
          <p:cNvSpPr/>
          <p:nvPr/>
        </p:nvSpPr>
        <p:spPr>
          <a:xfrm>
            <a:off x="8503920" y="3831336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26" name="Text 323"/>
          <p:cNvSpPr/>
          <p:nvPr/>
        </p:nvSpPr>
        <p:spPr>
          <a:xfrm>
            <a:off x="8906256" y="3831336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27" name="Shape 324"/>
          <p:cNvSpPr/>
          <p:nvPr/>
        </p:nvSpPr>
        <p:spPr>
          <a:xfrm>
            <a:off x="9345168" y="3867912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8" name="Text 325"/>
          <p:cNvSpPr/>
          <p:nvPr/>
        </p:nvSpPr>
        <p:spPr>
          <a:xfrm>
            <a:off x="9345168" y="3858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4617720" y="4009644"/>
            <a:ext cx="4343400" cy="17830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30" name="Text 327"/>
          <p:cNvSpPr/>
          <p:nvPr/>
        </p:nvSpPr>
        <p:spPr>
          <a:xfrm>
            <a:off x="4663440" y="4009644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31" name="Text 328"/>
          <p:cNvSpPr/>
          <p:nvPr/>
        </p:nvSpPr>
        <p:spPr>
          <a:xfrm>
            <a:off x="5047488" y="4009644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Arcane</a:t>
            </a:r>
            <a:endParaRPr lang="en-US" sz="900" dirty="0"/>
          </a:p>
        </p:txBody>
      </p:sp>
      <p:sp>
        <p:nvSpPr>
          <p:cNvPr id="332" name="Text 329"/>
          <p:cNvSpPr/>
          <p:nvPr/>
        </p:nvSpPr>
        <p:spPr>
          <a:xfrm>
            <a:off x="7095744" y="4009644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333" name="Shape 330"/>
          <p:cNvSpPr/>
          <p:nvPr/>
        </p:nvSpPr>
        <p:spPr>
          <a:xfrm>
            <a:off x="8540496" y="4046220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4" name="Text 331"/>
          <p:cNvSpPr/>
          <p:nvPr/>
        </p:nvSpPr>
        <p:spPr>
          <a:xfrm>
            <a:off x="8540496" y="40370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332"/>
          <p:cNvSpPr/>
          <p:nvPr/>
        </p:nvSpPr>
        <p:spPr>
          <a:xfrm>
            <a:off x="8906256" y="4009644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36" name="Text 333"/>
          <p:cNvSpPr/>
          <p:nvPr/>
        </p:nvSpPr>
        <p:spPr>
          <a:xfrm>
            <a:off x="9308592" y="4009644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37" name="Shape 334"/>
          <p:cNvSpPr/>
          <p:nvPr/>
        </p:nvSpPr>
        <p:spPr>
          <a:xfrm>
            <a:off x="4617720" y="4187952"/>
            <a:ext cx="4343400" cy="1783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38" name="Text 335"/>
          <p:cNvSpPr/>
          <p:nvPr/>
        </p:nvSpPr>
        <p:spPr>
          <a:xfrm>
            <a:off x="4663440" y="4187952"/>
            <a:ext cx="347472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39" name="Text 336"/>
          <p:cNvSpPr/>
          <p:nvPr/>
        </p:nvSpPr>
        <p:spPr>
          <a:xfrm>
            <a:off x="5047488" y="4187952"/>
            <a:ext cx="20116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Auditoria</a:t>
            </a:r>
            <a:endParaRPr lang="en-US" sz="900" dirty="0"/>
          </a:p>
        </p:txBody>
      </p:sp>
      <p:sp>
        <p:nvSpPr>
          <p:cNvPr id="340" name="Text 337"/>
          <p:cNvSpPr/>
          <p:nvPr/>
        </p:nvSpPr>
        <p:spPr>
          <a:xfrm>
            <a:off x="7095744" y="4187952"/>
            <a:ext cx="13716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[Assignee]</a:t>
            </a:r>
            <a:endParaRPr lang="en-US" sz="800" dirty="0"/>
          </a:p>
        </p:txBody>
      </p:sp>
      <p:sp>
        <p:nvSpPr>
          <p:cNvPr id="341" name="Shape 338"/>
          <p:cNvSpPr/>
          <p:nvPr/>
        </p:nvSpPr>
        <p:spPr>
          <a:xfrm>
            <a:off x="8540496" y="4224528"/>
            <a:ext cx="201168" cy="20116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2" name="Text 339"/>
          <p:cNvSpPr/>
          <p:nvPr/>
        </p:nvSpPr>
        <p:spPr>
          <a:xfrm>
            <a:off x="8540496" y="4215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3" name="Text 340"/>
          <p:cNvSpPr/>
          <p:nvPr/>
        </p:nvSpPr>
        <p:spPr>
          <a:xfrm>
            <a:off x="8906256" y="4187952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44" name="Text 341"/>
          <p:cNvSpPr/>
          <p:nvPr/>
        </p:nvSpPr>
        <p:spPr>
          <a:xfrm>
            <a:off x="9308592" y="4187952"/>
            <a:ext cx="2743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345" name="Shape 342"/>
          <p:cNvSpPr/>
          <p:nvPr/>
        </p:nvSpPr>
        <p:spPr>
          <a:xfrm>
            <a:off x="228600" y="4590288"/>
            <a:ext cx="87782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6" name="Text 343"/>
          <p:cNvSpPr/>
          <p:nvPr/>
        </p:nvSpPr>
        <p:spPr>
          <a:xfrm>
            <a:off x="457200" y="4590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Total Applications</a:t>
            </a:r>
            <a:endParaRPr lang="en-US" sz="900" dirty="0"/>
          </a:p>
        </p:txBody>
      </p:sp>
      <p:sp>
        <p:nvSpPr>
          <p:cNvPr id="347" name="Text 344"/>
          <p:cNvSpPr/>
          <p:nvPr/>
        </p:nvSpPr>
        <p:spPr>
          <a:xfrm>
            <a:off x="2651760" y="4590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Environment</a:t>
            </a:r>
            <a:endParaRPr lang="en-US" sz="900" dirty="0"/>
          </a:p>
        </p:txBody>
      </p:sp>
      <p:sp>
        <p:nvSpPr>
          <p:cNvPr id="348" name="Text 345"/>
          <p:cNvSpPr/>
          <p:nvPr/>
        </p:nvSpPr>
        <p:spPr>
          <a:xfrm>
            <a:off x="4846320" y="4590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Not Applicable</a:t>
            </a:r>
            <a:endParaRPr lang="en-US" sz="900" dirty="0"/>
          </a:p>
        </p:txBody>
      </p:sp>
      <p:sp>
        <p:nvSpPr>
          <p:cNvPr id="349" name="Text 346"/>
          <p:cNvSpPr/>
          <p:nvPr/>
        </p:nvSpPr>
        <p:spPr>
          <a:xfrm>
            <a:off x="7040880" y="4590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Scroll list to view all</a:t>
            </a:r>
            <a:endParaRPr lang="en-US" sz="900" dirty="0"/>
          </a:p>
        </p:txBody>
      </p:sp>
      <p:sp>
        <p:nvSpPr>
          <p:cNvPr id="350" name="Shape 3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1" name="Text 348"/>
          <p:cNvSpPr/>
          <p:nvPr/>
        </p:nvSpPr>
        <p:spPr>
          <a:xfrm>
            <a:off x="54864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 &amp; RLZ Program</a:t>
            </a:r>
            <a:endParaRPr lang="en-US" sz="1000" dirty="0"/>
          </a:p>
        </p:txBody>
      </p:sp>
      <p:sp>
        <p:nvSpPr>
          <p:cNvPr id="352" name="Text 349"/>
          <p:cNvSpPr/>
          <p:nvPr/>
        </p:nvSpPr>
        <p:spPr>
          <a:xfrm>
            <a:off x="8686800" y="4873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371600"/>
            <a:ext cx="5486400" cy="5486400"/>
          </a:xfrm>
          <a:prstGeom prst="ellipse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1645920"/>
            <a:ext cx="5029200" cy="5029200"/>
          </a:xfrm>
          <a:prstGeom prst="ellipse">
            <a:avLst/>
          </a:prstGeom>
          <a:solidFill>
            <a:srgbClr val="CC0000">
              <a:alpha val="4000"/>
            </a:srgbClr>
          </a:solidFill>
          <a:ln w="12700">
            <a:solidFill>
              <a:srgbClr val="CC0000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pPr indent="0" marL="0">
              <a:buNone/>
            </a:pPr>
            <a:r>
              <a:rPr lang="en-US" sz="6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Santander Cloud Infrastructure together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50292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97480"/>
            <a:ext cx="64008" cy="5669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974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Contacts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3075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— Cloud Platform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6966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4151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RLZ Program Management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307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Gluon / TFE Global / Quicksilver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16966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4151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OIDC Integration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5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8640" y="4873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 Technology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657600" y="48737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Team | Regional Landing Zone Migration |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From SLZ to RLZ</dc:title>
  <dc:subject>PptxGenJS Presentation</dc:subject>
  <dc:creator>CTO Team — Cloud Platform &amp; RLZ Program</dc:creator>
  <cp:lastModifiedBy>CTO Team — Cloud Platform &amp; RLZ Program</cp:lastModifiedBy>
  <cp:revision>1</cp:revision>
  <dcterms:created xsi:type="dcterms:W3CDTF">2026-03-21T00:04:25Z</dcterms:created>
  <dcterms:modified xsi:type="dcterms:W3CDTF">2026-03-21T00:04:25Z</dcterms:modified>
</cp:coreProperties>
</file>