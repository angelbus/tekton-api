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418320" y="-457200"/>
            <a:ext cx="1371600" cy="7772400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0" y="-457200"/>
            <a:ext cx="2011680" cy="77724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09960" y="301752"/>
            <a:ext cx="384048" cy="384048"/>
          </a:xfrm>
          <a:prstGeom prst="ellipse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01752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39728" y="347472"/>
            <a:ext cx="62179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Santander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71600"/>
            <a:ext cx="6400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CONFIDENTIAL // MVP2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55648"/>
            <a:ext cx="1828800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01952"/>
            <a:ext cx="868680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Calibri"/>
              </a:rPr>
              <a:t>XENA MVP2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834640"/>
            <a:ext cx="8686800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  <a:latin typeface="Calibri"/>
              </a:rPr>
              <a:t>GRID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49039"/>
            <a:ext cx="7772400" cy="6400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200" b="0" i="0">
                <a:solidFill>
                  <a:srgbClr val="EC0000"/>
                </a:solidFill>
                <a:latin typeface="Calibri"/>
              </a:rPr>
              <a:t>Optimizing GRID CPU Utilization and Parallelism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709160"/>
            <a:ext cx="2743200" cy="228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28032"/>
            <a:ext cx="4572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846320"/>
            <a:ext cx="365760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onsolas"/>
              </a:rPr>
              <a:t>PREPARED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65776"/>
            <a:ext cx="54864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GRID C++ Engineering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188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03/2026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510528"/>
            <a:ext cx="731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onsolas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Why We Are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Calibri"/>
              </a:rPr>
              <a:t>Problem Statement</a:t>
            </a:r>
            <a:r>
              <a:rPr b="0" sz="3400" i="0">
                <a:solidFill>
                  <a:srgbClr val="9CA3AF"/>
                </a:solidFill>
                <a:latin typeface="Calibri"/>
              </a:rPr>
              <a:t>  —  The Scale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577840" cy="2148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57784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27632"/>
            <a:ext cx="502920" cy="50292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91056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 i="0">
                <a:solidFill>
                  <a:srgbClr val="EC0000"/>
                </a:solidFill>
                <a:latin typeface="Calibri"/>
              </a:rPr>
              <a:t>326,897+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5740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Deals in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5212079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Across 23+ books. eFX alone holds 48,178 deals (14.73%).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577840" cy="2148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463040"/>
            <a:ext cx="557784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627632"/>
            <a:ext cx="502920" cy="50292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591056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 i="0">
                <a:solidFill>
                  <a:srgbClr val="EC0000"/>
                </a:solidFill>
                <a:latin typeface="Calibri"/>
              </a:rPr>
              <a:t>Millions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05740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Monte Carlo Paths per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5212079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Each deal spawns thousands of simulation paths. Naive parallelism fails at this scale.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94760"/>
            <a:ext cx="5577840" cy="2148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794760"/>
            <a:ext cx="557784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959352"/>
            <a:ext cx="502920" cy="50292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31920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22776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 i="0">
                <a:solidFill>
                  <a:srgbClr val="EC0000"/>
                </a:solidFill>
                <a:latin typeface="Calibri"/>
              </a:rPr>
              <a:t>~60%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38912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Typical CPU Utilisation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5212079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Book-level parallelism leaves 40% of compute idle due to uneven workload tails.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794760"/>
            <a:ext cx="5577840" cy="21488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794760"/>
            <a:ext cx="557784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0" y="3959352"/>
            <a:ext cx="502920" cy="50292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0" i="0">
                <a:solidFill>
                  <a:srgbClr val="EC0000"/>
                </a:solidFill>
                <a:latin typeface="Calibri"/>
              </a:rPr>
              <a:t>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22776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3200" b="1" i="0">
                <a:solidFill>
                  <a:srgbClr val="EC0000"/>
                </a:solidFill>
                <a:latin typeface="Calibri"/>
              </a:rPr>
              <a:t>O(n·book)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389120"/>
            <a:ext cx="45720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Memory Complexity — Polling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09160"/>
            <a:ext cx="5212079" cy="10058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Redis-based polling causes unbounded memory growth as volume increases.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Production Data  //  326,897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Deal Distribution by Book</a:t>
            </a:r>
          </a:p>
        </p:txBody>
      </p:sp>
      <p:pic>
        <p:nvPicPr>
          <p:cNvPr id="8" name="Picture 7" descr="Screen_Shot_2026-02-19_at_10_08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046720" cy="39776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49640" y="1143000"/>
            <a:ext cx="3337560" cy="3977639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49640" y="1143000"/>
            <a:ext cx="54864" cy="3977639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1234440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A30000"/>
                </a:solidFill>
                <a:latin typeface="Consolas"/>
              </a:rPr>
              <a:t>KEY 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1627632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1664208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48,178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682496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14.73%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901952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eFX — largest book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2194560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2231136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38,167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249424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11.67%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468879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RATES_CURVE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32520" y="2761488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798064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31,556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816352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9.65%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035808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LATAM book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3328415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364991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28,146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383279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8.60%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602735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SLB Rates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32520" y="3895344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931920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Top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950207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44.65%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4169663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of all deals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4462272"/>
            <a:ext cx="29718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4498848"/>
            <a:ext cx="10058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700" b="1" i="0">
                <a:solidFill>
                  <a:srgbClr val="EC0000"/>
                </a:solidFill>
                <a:latin typeface="Calibri"/>
              </a:rPr>
              <a:t>23+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517136"/>
            <a:ext cx="914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A30000"/>
                </a:solidFill>
                <a:latin typeface="Consolas"/>
              </a:rPr>
              <a:t>books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4736592"/>
            <a:ext cx="274320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active in production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257800"/>
            <a:ext cx="12191695" cy="7498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30952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C0000"/>
                </a:solidFill>
                <a:latin typeface="Calibri"/>
              </a:rPr>
              <a:t>326,897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87568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Total Active Deals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330952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C0000"/>
                </a:solidFill>
                <a:latin typeface="Calibri"/>
              </a:rPr>
              <a:t>23+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687568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Trading 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330952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C0000"/>
                </a:solidFill>
                <a:latin typeface="Calibri"/>
              </a:rPr>
              <a:t>~14,213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687568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Avg Deals / 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330952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C0000"/>
                </a:solidFill>
                <a:latin typeface="Calibri"/>
              </a:rPr>
              <a:t>48,178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6640" y="5687568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Max (eFX)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5330952"/>
            <a:ext cx="210312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EC0000"/>
                </a:solidFill>
                <a:latin typeface="Calibri"/>
              </a:rPr>
              <a:t>333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5687568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Min (VOLA_RATES_ES)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03 / 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Design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Calibri"/>
              </a:rPr>
              <a:t>Architecture Goals</a:t>
            </a:r>
            <a:r>
              <a:rPr b="0" sz="2800" i="0">
                <a:solidFill>
                  <a:srgbClr val="9CA3AF"/>
                </a:solidFill>
                <a:latin typeface="Calibri"/>
              </a:rPr>
              <a:t>  —  What We Optimise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10908792" cy="80467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08792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b="0" sz="1800" i="0">
                <a:solidFill>
                  <a:srgbClr val="9CA3AF"/>
                </a:solidFill>
                <a:latin typeface="Calibri"/>
              </a:rPr>
              <a:t>Target: </a:t>
            </a:r>
            <a:r>
              <a:rPr b="1" sz="2800" i="0">
                <a:solidFill>
                  <a:srgbClr val="EC0000"/>
                </a:solidFill>
                <a:latin typeface="Calibri"/>
              </a:rPr>
              <a:t>800+ deals/min</a:t>
            </a:r>
            <a:r>
              <a:rPr b="0" sz="1800" i="0">
                <a:solidFill>
                  <a:srgbClr val="6B7280"/>
                </a:solidFill>
                <a:latin typeface="Calibri"/>
              </a:rPr>
              <a:t>   ·   </a:t>
            </a:r>
            <a:r>
              <a:rPr b="1" sz="2200" i="0">
                <a:solidFill>
                  <a:srgbClr val="FFFFFF"/>
                </a:solidFill>
                <a:latin typeface="Calibri"/>
              </a:rPr>
              <a:t>95% CPU utilisation</a:t>
            </a:r>
            <a:r>
              <a:rPr b="0" sz="1800" i="0">
                <a:solidFill>
                  <a:srgbClr val="6B7280"/>
                </a:solidFill>
                <a:latin typeface="Calibri"/>
              </a:rPr>
              <a:t>   ·   </a:t>
            </a:r>
            <a:r>
              <a:rPr b="1" sz="1800" i="0">
                <a:solidFill>
                  <a:srgbClr val="10B981"/>
                </a:solidFill>
                <a:latin typeface="Calibri"/>
              </a:rPr>
              <a:t>O(1) memory per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59436" cy="1755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468879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  <a:latin typeface="Calibri"/>
              </a:rPr>
              <a:t>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245973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60% → 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68879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Maximise CPU Utilisation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9864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Deal-level parallelism replaces book-level. Every core stays busy.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33172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331720"/>
            <a:ext cx="59436" cy="17556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468879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  <a:latin typeface="Calibri"/>
              </a:rPr>
              <a:t>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5973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3B82F6"/>
                </a:solidFill>
                <a:latin typeface="Consolas"/>
              </a:rPr>
              <a:t>N-core scale-out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68879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Fine-Grained Parallelism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89864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XDE decomposes each book into individual deal tasks distributed across all cores.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3172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2331720"/>
            <a:ext cx="59436" cy="17556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2468879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  <a:latin typeface="Calibri"/>
              </a:rPr>
              <a:t>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245973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onsolas"/>
              </a:rPr>
              <a:t>0 idle cycles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468879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Zero Idle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289864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Work-stealing scheduler ensures no core waits. Dynamic queue rebalancing at runtime.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251960"/>
            <a:ext cx="59436" cy="17556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38912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10B981"/>
                </a:solidFill>
                <a:latin typeface="Calibri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39" y="437997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Stateless 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89120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Minimal Orchestration Overhead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81888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XENA services remain stateless. Compute state lives exclusively in GRID/XDE.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25196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251960"/>
            <a:ext cx="59436" cy="17556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438912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F59E0B"/>
                </a:solidFill>
                <a:latin typeface="Calibri"/>
              </a:rPr>
              <a:t>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37997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Consolas"/>
              </a:rPr>
              <a:t>&lt; 1% rework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389120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Resilient Resumption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81888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Reconciliation mode skips already-processed deals. Partial failures cost &lt; 1% rework.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4251960"/>
            <a:ext cx="3657600" cy="17556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4251960"/>
            <a:ext cx="59436" cy="17556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912" y="4389120"/>
            <a:ext cx="457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3B82F6"/>
                </a:solidFill>
                <a:latin typeface="Calibri"/>
              </a:rPr>
              <a:t>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4379976"/>
            <a:ext cx="12344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3B82F6"/>
                </a:solidFill>
                <a:latin typeface="Consolas"/>
              </a:rPr>
              <a:t>S3 as contract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4389120"/>
            <a:ext cx="2880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Immutable 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9912" y="4818888"/>
            <a:ext cx="3401568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All results written to S3. Reproducible, auditable, decoupled from compute lifecycle.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High-Level Architecture — Three 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11183112" cy="1389888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30352" cy="1389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1" y="1188720"/>
            <a:ext cx="36576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1298448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XENA Services  (EKS)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1719072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FFCCCC"/>
                </a:solidFill>
                <a:latin typeface="Calibri"/>
              </a:rPr>
              <a:t>Control Plane — Orchestration &amp; Job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53312"/>
            <a:ext cx="521208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53312"/>
            <a:ext cx="50292" cy="100584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444752"/>
            <a:ext cx="4937760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onsolas"/>
              </a:rPr>
              <a:t>CalibrationService  ·  FMTMService  ·  ProgressTracker  ·  EventEmitter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2578608"/>
            <a:ext cx="640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34640"/>
            <a:ext cx="11183112" cy="13898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34640"/>
            <a:ext cx="530352" cy="1389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1" y="2834640"/>
            <a:ext cx="36576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2944368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GRID Compute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364992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Parallel Scientific Computation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99232"/>
            <a:ext cx="521208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999232"/>
            <a:ext cx="50292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090672"/>
            <a:ext cx="4937760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onsolas"/>
              </a:rPr>
              <a:t>XDE C++ Library  ·  Dynamic Queues  ·  Work Stealing  ·  Deal Decomposition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224528"/>
            <a:ext cx="6400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800" b="0" i="0">
                <a:solidFill>
                  <a:srgbClr val="EC0000"/>
                </a:solidFill>
                <a:latin typeface="Calibri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80560"/>
            <a:ext cx="11183112" cy="138988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530352" cy="138988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4480560"/>
            <a:ext cx="36576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4590288"/>
            <a:ext cx="502920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Event &amp; Storage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010912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0" i="0">
                <a:solidFill>
                  <a:srgbClr val="BFDBFF"/>
                </a:solidFill>
                <a:latin typeface="Calibri"/>
              </a:rPr>
              <a:t>Asynchronous Communication &amp; Persistence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645152"/>
            <a:ext cx="521208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645152"/>
            <a:ext cx="50292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3952" y="4736592"/>
            <a:ext cx="4937760" cy="7498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onsolas"/>
              </a:rPr>
              <a:t>Amazon S3  ·  _progress.json  ·  manifest.json  ·  Event-Driven Triggers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053328"/>
            <a:ext cx="12191695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053328"/>
            <a:ext cx="12191695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6089904"/>
            <a:ext cx="12191695" cy="4023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onsolas"/>
              </a:rPr>
              <a:t>Job → XENA (orchestrate) → GRID/XDE (compute) → S3 (persist) → manifest.json → Event (notify)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05 / 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Control Plane — XENA Services (EKS)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Calibri"/>
              </a:rPr>
              <a:t>XENA Engine</a:t>
            </a:r>
            <a:r>
              <a:rPr b="0" sz="2800" i="0">
                <a:solidFill>
                  <a:srgbClr val="9CA3AF"/>
                </a:solidFill>
                <a:latin typeface="Calibri"/>
              </a:rPr>
              <a:t>  —  The GRID / XDE Invoker</a:t>
            </a:r>
          </a:p>
        </p:txBody>
      </p:sp>
      <p:pic>
        <p:nvPicPr>
          <p:cNvPr id="5" name="Picture 4" descr="XENA_Engin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498079" cy="41879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325880"/>
            <a:ext cx="3749039" cy="41879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0" y="1325880"/>
            <a:ext cx="3749039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426464"/>
            <a:ext cx="3474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RESPONSIBILITIES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783080"/>
            <a:ext cx="347472" cy="3474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EC000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783080"/>
            <a:ext cx="30632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Job Endpoint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057400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Receives payload.json from upstream; validates schema &amp; routes to service.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532888"/>
            <a:ext cx="347472" cy="3474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532888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EC0000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5088" y="2532888"/>
            <a:ext cx="30632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CalibrationService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807208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Prepares calibration GRID payload; no heavy compute executed 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282696"/>
            <a:ext cx="347472" cy="3474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282696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EC0000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3282696"/>
            <a:ext cx="30632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FMTMService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3557015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Prepares FMTM GRID payload; translates risk job into XDE task spec.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4032504"/>
            <a:ext cx="347472" cy="3474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32504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EC0000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4032504"/>
            <a:ext cx="30632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ProgressTracker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4306824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Reads _progress.json from S3; tracks deal-level completion without coupling to compute.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4782312"/>
            <a:ext cx="347472" cy="3474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4782312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EC0000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05088" y="4782312"/>
            <a:ext cx="306324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Event Emitter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5056631"/>
            <a:ext cx="306324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Fires completion event when manifest.json signals 100% deals processed.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5285232"/>
            <a:ext cx="3749039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1">
                <a:solidFill>
                  <a:srgbClr val="F59E0B"/>
                </a:solidFill>
                <a:latin typeface="Calibri"/>
              </a:rPr>
              <a:t>Heavy compute is NEVER executed in XENA services.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onsolas"/>
              </a:rPr>
              <a:t>Compute Plane  //  XDE C++ Library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GRID + XDE — Parallel Compute Engine</a:t>
            </a:r>
          </a:p>
        </p:txBody>
      </p:sp>
      <p:pic>
        <p:nvPicPr>
          <p:cNvPr id="8" name="Picture 7" descr="MVP2_XD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772400" cy="4343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321040" y="1143000"/>
            <a:ext cx="3566160" cy="4343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143000"/>
            <a:ext cx="54864" cy="434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261872"/>
            <a:ext cx="3200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057A55"/>
                </a:solidFill>
                <a:latin typeface="Consolas"/>
              </a:rPr>
              <a:t>XDE COMPONENTS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85632" y="1600200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60020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160020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Task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856232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Decomposes each book into individual deal-level tasks fed into dynamic queues.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85632" y="2240280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24028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4028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Dynamic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496312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Work items distributed across N queues — one per logical thread group.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85632" y="2880360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288036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88036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Worker Pool (8 cores)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3136391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Core 1–8 shown. Scales to full node capacity. Each core pulls independently.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85632" y="3520439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3520439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520439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Work Stealing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776472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Idle cores steal tasks from busy queues. Eliminates tail-latency stalls.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85632" y="4160520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416052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416052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Aggregator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416552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Collects partial results asynchronously. Non-blocking write pipeline.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5632" y="4800600"/>
            <a:ext cx="347472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2" y="4800600"/>
            <a:ext cx="3474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057A55"/>
                </a:solidFill>
                <a:latin typeface="Calibri"/>
              </a:rPr>
              <a:t>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800600"/>
            <a:ext cx="28346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S3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5056632"/>
            <a:ext cx="28346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Writes immutable result objects. manifest.json signals job completion.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07 /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CPU Utilisation — Mathematical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200" i="0">
                <a:solidFill>
                  <a:srgbClr val="FFFFFF"/>
                </a:solidFill>
                <a:latin typeface="Calibri"/>
              </a:rPr>
              <a:t>Why CPU Approaches 100%</a:t>
            </a:r>
            <a:r>
              <a:rPr b="0" sz="2800" i="0">
                <a:solidFill>
                  <a:srgbClr val="9CA3AF"/>
                </a:solidFill>
                <a:latin typeface="Calibri"/>
              </a:rPr>
              <a:t>  —  The Queue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5486400" cy="49194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48640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FORMAL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566928" cy="2926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nsolas"/>
              </a:rPr>
              <a:t>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865376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= orchestration unit (dispatched by XENA)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12848"/>
            <a:ext cx="566928" cy="2926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nsolas"/>
              </a:rPr>
              <a:t>DEAL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2249424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= atomic compute unit (executed by XDE)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96896"/>
            <a:ext cx="566928" cy="2926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96896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nsolas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= worker threads (= hardware cores)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980944"/>
            <a:ext cx="566928" cy="2926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980944"/>
            <a:ext cx="566928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Consola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017520"/>
            <a:ext cx="4480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= total deals in book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93008"/>
            <a:ext cx="5166360" cy="141732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584448"/>
            <a:ext cx="4965192" cy="12527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Consolas"/>
              </a:rPr>
              <a:t>// XDE worker loop — runs on each of N cores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while (GlobalDealQueue.pop(deal)) {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  process(deal);  // CPU bound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}</a:t>
            </a:r>
          </a:p>
          <a:p>
            <a:pPr algn="l"/>
            <a:r>
              <a:rPr sz="1050">
                <a:solidFill>
                  <a:srgbClr val="6B7280"/>
                </a:solidFill>
                <a:latin typeface="Consolas"/>
              </a:rPr>
              <a:t>// Queue exhausted → brief idle → job done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010912"/>
            <a:ext cx="5166360" cy="804672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010912"/>
            <a:ext cx="59436" cy="80467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47488"/>
            <a:ext cx="27432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THEOREM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5285232"/>
            <a:ext cx="48920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onsolas"/>
              </a:rPr>
              <a:t>CPU utilisation ≈ 100%  until queue empty
Idle time occurs only at the very end (tail)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353312"/>
            <a:ext cx="5623560" cy="23774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353312"/>
            <a:ext cx="56235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1426464"/>
            <a:ext cx="5303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nsolas"/>
              </a:rPr>
              <a:t>HETEROGENEOUS DEAL COST — SOLVED AUTOMATICALLY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1865376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Deal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1865376"/>
            <a:ext cx="7315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057A55"/>
                </a:solidFill>
                <a:latin typeface="Consolas"/>
              </a:rPr>
              <a:t>0.5s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1883664"/>
            <a:ext cx="208483" cy="23774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2395728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Deal 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395728"/>
            <a:ext cx="7315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EC0000"/>
                </a:solidFill>
                <a:latin typeface="Consolas"/>
              </a:rPr>
              <a:t>15s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92440" y="2414016"/>
            <a:ext cx="3231489" cy="237744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926079"/>
            <a:ext cx="8229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onsolas"/>
              </a:rPr>
              <a:t>Deal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2926079"/>
            <a:ext cx="73152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1s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2944368"/>
            <a:ext cx="416966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19088" y="3364992"/>
            <a:ext cx="53035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1">
                <a:solidFill>
                  <a:srgbClr val="D1D5DB"/>
                </a:solidFill>
                <a:latin typeface="Calibri"/>
              </a:rPr>
              <a:t>Dynamic queue → fast threads immediately take next work
→ automatic load balancing, no manual partitioning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858768"/>
            <a:ext cx="5623560" cy="241401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63640" y="3858768"/>
            <a:ext cx="56235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088" y="3931920"/>
            <a:ext cx="5303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DYNAMIC BATCH SIZE — PREVENTS TAIL PROBLEM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19088" y="4251960"/>
            <a:ext cx="5285232" cy="18288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28816" y="4343400"/>
            <a:ext cx="5084064" cy="16642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size_t computeBatchSize() {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size_t remaining =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  totalDeals - processedDeals;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if (remaining &gt; 20000) return 200;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if (remaining &gt; 5000)  return  50;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if (remaining &gt; 1000)  return  10;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return 1;  // Fine-grained at tail</a:t>
            </a:r>
          </a:p>
          <a:p>
            <a:pPr algn="l"/>
            <a:r>
              <a:rPr sz="1050" b="1">
                <a:solidFill>
                  <a:srgbClr val="34D399"/>
                </a:solidFill>
                <a:latin typeface="Consolas"/>
              </a:rPr>
              <a:t>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Performance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CPU Utilisation Strategy — Before vs After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394960" cy="4736592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394960" cy="53035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16636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A30000"/>
                </a:solidFill>
                <a:latin typeface="Calibri"/>
              </a:rPr>
              <a:t>✕  BEFORE  —  Book-Level Parallelism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507492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200" b="1" i="0">
                <a:solidFill>
                  <a:srgbClr val="A30000"/>
                </a:solidFill>
                <a:latin typeface="Calibri"/>
              </a:rPr>
              <a:t>~60%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074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A30000"/>
                </a:solidFill>
                <a:latin typeface="Calibri"/>
              </a:rPr>
              <a:t>Average CPU Utilisation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17520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14553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C1 BUSY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017520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37360" y="3017520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3936" y="314553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C2 BUSY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3017520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71800" y="3017520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08376" y="314553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C3 BUSY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17520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017520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3145536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C4 BUSY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75887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675887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803903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C5 BUSY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675887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37360" y="3675887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73936" y="3803903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A30000"/>
                </a:solidFill>
                <a:latin typeface="Calibri"/>
              </a:rPr>
              <a:t>C6 IDLE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71800" y="3675887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971800" y="3675887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08376" y="3803903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A30000"/>
                </a:solidFill>
                <a:latin typeface="Calibri"/>
              </a:rPr>
              <a:t>C7 IDLE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675887"/>
            <a:ext cx="1097280" cy="475488"/>
          </a:xfrm>
          <a:prstGeom prst="rect">
            <a:avLst/>
          </a:prstGeom>
          <a:solidFill>
            <a:srgbClr val="FF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3675887"/>
            <a:ext cx="658368" cy="475488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3803903"/>
            <a:ext cx="102412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A30000"/>
                </a:solidFill>
                <a:latin typeface="Calibri"/>
              </a:rPr>
              <a:t>C8 IDLE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43400"/>
            <a:ext cx="5394960" cy="548640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389120"/>
            <a:ext cx="512064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1">
                <a:solidFill>
                  <a:srgbClr val="A30000"/>
                </a:solidFill>
                <a:latin typeface="Calibri"/>
              </a:rPr>
              <a:t>40% of cores idle, waiting for slowest book in batch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1143000"/>
            <a:ext cx="5852160" cy="47365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35040" y="1143000"/>
            <a:ext cx="5852160" cy="530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234440"/>
            <a:ext cx="557784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✓  AFTER  —  Deal-Level Parallelism (XDE)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691640"/>
            <a:ext cx="557784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7200" b="1" i="0">
                <a:solidFill>
                  <a:srgbClr val="10B981"/>
                </a:solidFill>
                <a:latin typeface="Calibri"/>
              </a:rPr>
              <a:t>~95%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2606040"/>
            <a:ext cx="55778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400" b="0" i="0">
                <a:solidFill>
                  <a:srgbClr val="D1D5DB"/>
                </a:solidFill>
                <a:latin typeface="Calibri"/>
              </a:rPr>
              <a:t>Average CPU Utilisation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017520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017520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8776" y="3145536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C1 95%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43800" y="3017520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43800" y="3017520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0375" y="3145536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C2 95%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3017520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15400" y="3017520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51976" y="3145536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C3 95%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87000" y="3017520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287000" y="3017520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23576" y="3145536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C4 95%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3675887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72200" y="3675887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08776" y="3803903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C5 95%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43800" y="3675887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43800" y="3675887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0375" y="3803903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C6 95%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15400" y="3675887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915400" y="3675887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51976" y="3803903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C7 95%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87000" y="3675887"/>
            <a:ext cx="1234440" cy="475488"/>
          </a:xfrm>
          <a:prstGeom prst="rect">
            <a:avLst/>
          </a:prstGeom>
          <a:solidFill>
            <a:srgbClr val="052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87000" y="3675887"/>
            <a:ext cx="1172718" cy="47548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23576" y="3803903"/>
            <a:ext cx="1161288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34D399"/>
                </a:solidFill>
                <a:latin typeface="Calibri"/>
              </a:rPr>
              <a:t>C8 95%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35040" y="4343400"/>
            <a:ext cx="5852160" cy="548640"/>
          </a:xfrm>
          <a:prstGeom prst="rect">
            <a:avLst/>
          </a:prstGeom>
          <a:solidFill>
            <a:srgbClr val="052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72200" y="4389120"/>
            <a:ext cx="566928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1">
                <a:solidFill>
                  <a:srgbClr val="34D399"/>
                </a:solidFill>
                <a:latin typeface="Calibri"/>
              </a:rPr>
              <a:t>Work stealing keeps all cores busy — no idle wait on tail tasks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26280" y="5138928"/>
            <a:ext cx="2971800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280" y="5175504"/>
            <a:ext cx="2971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onsolas"/>
              </a:rPr>
              <a:t>▲ +35pp  CPU GAIN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26280" y="5413248"/>
            <a:ext cx="29718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60% → 95% utilisation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09 / 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Parallel Compute — The Hard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Calibri"/>
              </a:rPr>
              <a:t>Tail Latency</a:t>
            </a:r>
            <a:r>
              <a:rPr b="0" sz="2800" i="0">
                <a:solidFill>
                  <a:srgbClr val="9CA3AF"/>
                </a:solidFill>
                <a:latin typeface="Calibri"/>
              </a:rPr>
              <a:t>  &amp;  Work-Stealing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27632"/>
            <a:ext cx="5394960" cy="3730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27632"/>
            <a:ext cx="539496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1206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Without Work Stealing — 4 cores idle, waiting on Core 4 tail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084831"/>
            <a:ext cx="3300984" cy="274320"/>
          </a:xfrm>
          <a:prstGeom prst="rect">
            <a:avLst/>
          </a:prstGeom>
          <a:solidFill>
            <a:srgbClr val="44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21408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08760" y="2468879"/>
            <a:ext cx="3057753" cy="274320"/>
          </a:xfrm>
          <a:prstGeom prst="rect">
            <a:avLst/>
          </a:prstGeom>
          <a:solidFill>
            <a:srgbClr val="44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05456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33" y="2505456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8760" y="2852927"/>
            <a:ext cx="3127248" cy="274320"/>
          </a:xfrm>
          <a:prstGeom prst="rect">
            <a:avLst/>
          </a:prstGeom>
          <a:solidFill>
            <a:srgbClr val="446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89503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89503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3236976"/>
            <a:ext cx="3474720" cy="27432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73552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73552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EC0000"/>
                </a:solidFill>
                <a:latin typeface="Calibri"/>
              </a:rPr>
              <a:t>TAIL ← BOTTLENECK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3621024"/>
            <a:ext cx="347472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3657600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IDLE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4005072"/>
            <a:ext cx="347472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41648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4041648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IDLE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4389120"/>
            <a:ext cx="347472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425696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4425696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IDLE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08760" y="4773168"/>
            <a:ext cx="347472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809744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01952" y="4809744"/>
            <a:ext cx="27432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IDLE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9744" y="2029968"/>
            <a:ext cx="27432" cy="324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2029968"/>
            <a:ext cx="118872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  <a:latin typeface="Consolas"/>
              </a:rPr>
              <a:t>T_normal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1325880"/>
            <a:ext cx="5394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onsolas"/>
              </a:rPr>
              <a:t>THE SOLUTION — WORK STEALING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1627632"/>
            <a:ext cx="5486400" cy="3730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1627632"/>
            <a:ext cx="548640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1719072"/>
            <a:ext cx="5257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9CA3AF"/>
                </a:solidFill>
                <a:latin typeface="Calibri"/>
              </a:rPr>
              <a:t>With Work Stealing — idle cores steal sub-tasks from tail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2084831"/>
            <a:ext cx="1980590" cy="274320"/>
          </a:xfrm>
          <a:prstGeom prst="rect">
            <a:avLst/>
          </a:prstGeom>
          <a:solidFill>
            <a:srgbClr val="33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2121408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1510" y="2121408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DONE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9480" y="2468879"/>
            <a:ext cx="1834652" cy="274320"/>
          </a:xfrm>
          <a:prstGeom prst="rect">
            <a:avLst/>
          </a:prstGeom>
          <a:solidFill>
            <a:srgbClr val="33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505456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5572" y="2505456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DONE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2852927"/>
            <a:ext cx="1876348" cy="274320"/>
          </a:xfrm>
          <a:prstGeom prst="rect">
            <a:avLst/>
          </a:prstGeom>
          <a:solidFill>
            <a:srgbClr val="33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2889503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7268" y="2889503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DONE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69480" y="3236976"/>
            <a:ext cx="938174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3273552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9094" y="3273552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TASK SPLIT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3621024"/>
            <a:ext cx="938174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3657600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9094" y="3657600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STOLEN 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4005072"/>
            <a:ext cx="938174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041648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99094" y="4041648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STOLEN ↑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69480" y="4389120"/>
            <a:ext cx="938174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46520" y="4425696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99094" y="4425696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STOLEN 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69480" y="4773168"/>
            <a:ext cx="938174" cy="274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4809744"/>
            <a:ext cx="77724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Core 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99094" y="4809744"/>
            <a:ext cx="3200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34D399"/>
                </a:solidFill>
                <a:latin typeface="Calibri"/>
              </a:rPr>
              <a:t>STOLEN ↑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5138928"/>
            <a:ext cx="2606040" cy="7498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46520" y="5193792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Tail Reduction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5394960"/>
            <a:ext cx="24688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~60%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5138928"/>
            <a:ext cx="2606040" cy="74980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35440" y="5193792"/>
            <a:ext cx="24688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Throughput Gain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5394960"/>
            <a:ext cx="24688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400" b="1" i="0">
                <a:solidFill>
                  <a:srgbClr val="10B981"/>
                </a:solidFill>
                <a:latin typeface="Calibri"/>
              </a:rPr>
              <a:t>+58%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Data Ingestion Model — GRIDConnector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200" i="0">
                <a:solidFill>
                  <a:srgbClr val="FFFFFF"/>
                </a:solidFill>
                <a:latin typeface="Calibri"/>
              </a:rPr>
              <a:t>Payload Delivery</a:t>
            </a:r>
            <a:r>
              <a:rPr b="0" sz="2600" i="0">
                <a:solidFill>
                  <a:srgbClr val="9CA3AF"/>
                </a:solidFill>
                <a:latin typeface="Calibri"/>
              </a:rPr>
              <a:t>  —  Job Initialisation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5989320" cy="49194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989320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56692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onsolas"/>
              </a:rPr>
              <a:t>GRID CONNECTOR PAYLOAD  —  payload.json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5669280" cy="43159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74519"/>
            <a:ext cx="5468112" cy="4151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"jobId":          "uuid",</a:t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"bookId":         "ABC123",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"valuationDate":  "2026-03-07",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  "inputFile":   "s3://xena-input-{env}/{bookId}/book.parquet",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  "resultsPath": "s3://xena-output-{env}/{bookId}/",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  "errorPath":   "s3://xena-error-{env}/{bookId}/",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"totalDeals":      825734,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"bookSizeBytes":   4387239842,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  "reconciliation":  false,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"bookRetries":     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"etaSeconds":      180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53312"/>
            <a:ext cx="5166360" cy="276148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353312"/>
            <a:ext cx="516636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76288" y="1426464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nsolas"/>
              </a:rPr>
              <a:t>FIELD 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1828800"/>
            <a:ext cx="2011680" cy="3200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94576" y="1865376"/>
            <a:ext cx="197510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totalDeals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83664"/>
            <a:ext cx="27432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Initialize progress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267712"/>
            <a:ext cx="2011680" cy="3200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304288"/>
            <a:ext cx="197510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onsolas"/>
              </a:rPr>
              <a:t>bookSizeBytes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322576"/>
            <a:ext cx="27432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Monitoring + scheduling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2706624"/>
            <a:ext cx="2011680" cy="3200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4576" y="2743200"/>
            <a:ext cx="197510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onsolas"/>
              </a:rPr>
              <a:t>reconciliation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761488"/>
            <a:ext cx="27432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Partial recompute mode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3145536"/>
            <a:ext cx="2011680" cy="3200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3182112"/>
            <a:ext cx="197510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EC0000"/>
                </a:solidFill>
                <a:latin typeface="Consolas"/>
              </a:rPr>
              <a:t>bookRetries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200400"/>
            <a:ext cx="27432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Reconciliation attempts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3584448"/>
            <a:ext cx="2011680" cy="32004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94576" y="3621024"/>
            <a:ext cx="1975104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D1D5DB"/>
                </a:solidFill>
                <a:latin typeface="Consolas"/>
              </a:rPr>
              <a:t>etaSeconds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3639312"/>
            <a:ext cx="27432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Observability &amp; alerting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20840" y="4251960"/>
            <a:ext cx="5166360" cy="20208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20840" y="4251960"/>
            <a:ext cx="516636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4325112"/>
            <a:ext cx="48463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WHY THIS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663440"/>
            <a:ext cx="2743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4700016"/>
            <a:ext cx="4617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Avoids duplicate metadata reads — all state known at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5065776"/>
            <a:ext cx="2743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5102352"/>
            <a:ext cx="4617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Enables faster startup — no S3 scan at init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5468112"/>
            <a:ext cx="2743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5504688"/>
            <a:ext cx="4617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Deterministic initialisation — reproducible runs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288" y="5870448"/>
            <a:ext cx="2743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5907024"/>
            <a:ext cx="46177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alibri"/>
              </a:rPr>
              <a:t>Dynamic observability — ETA + progress from first moment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Observability &amp; Monitoring — XDE writes _progress.json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Progress Tracking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669280" cy="4892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66928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216152"/>
            <a:ext cx="53035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onsolas"/>
              </a:rPr>
              <a:t>_progress.json  —  periodic checkpoint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1536192"/>
            <a:ext cx="5394960" cy="4343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1627632"/>
            <a:ext cx="5193792" cy="41788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"bookId":       "eFX",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"inputFile":    "s3://xena-input/eFX/book.parquet",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"totalDeals":       48178,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"processedDeals":   17842,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"completedDeals":   17000,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"failedDeals":        842,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"lastProcessingDeal": "deal-918273",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"processingRateDealsPerSec": 145,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"estimatedCompletionSeconds": 210,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"bookRetries":    1,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"startTime":      "2026-03-05T18:00:12Z",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"lastUpdate":     "2026-03-05T18:42:11Z",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"gridJobId":      "grid-742912",</a:t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"version":        "1.0"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577840" cy="22677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54864" cy="22677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34440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926000"/>
                </a:solidFill>
                <a:latin typeface="Consolas"/>
              </a:rPr>
              <a:t>LIVE DERIVED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572768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572768"/>
            <a:ext cx="20116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onsolas"/>
              </a:rPr>
              <a:t>17,842 / 48,178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5792" y="1618488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37.0%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2011680"/>
            <a:ext cx="20116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onsolas"/>
              </a:rPr>
              <a:t>145 deals/sec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057400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~8,700/min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450591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450591"/>
            <a:ext cx="20116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onsolas"/>
              </a:rPr>
              <a:t>210 seconds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2496311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~3.5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89504"/>
            <a:ext cx="11887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Calibri"/>
              </a:rPr>
              <a:t>Failures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889504"/>
            <a:ext cx="201168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EC0000"/>
                </a:solidFill>
                <a:latin typeface="Consolas"/>
              </a:rPr>
              <a:t>842 failed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935224"/>
            <a:ext cx="19202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4.7% of processed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547872"/>
            <a:ext cx="5577840" cy="7132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547872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602736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High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77056"/>
            <a:ext cx="52120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Operators see real-time ETA, deal rate, and failure count without querying GRID directly.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352544"/>
            <a:ext cx="5577840" cy="7132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352544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407407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Reconciliation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681728"/>
            <a:ext cx="52120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bookRetries + failedDeals drive reconciliation logic. XDE checks S3 before reprocessing.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157216"/>
            <a:ext cx="5577840" cy="71323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5157216"/>
            <a:ext cx="54864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212079"/>
            <a:ext cx="52120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Calibri"/>
              </a:rPr>
              <a:t>Recovery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86400"/>
            <a:ext cx="52120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lastProcessingDeal enables exact restart point. No full recompute needed after failure.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12 / 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Completion Contract — The Most Critical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600" i="0">
                <a:solidFill>
                  <a:srgbClr val="EC0000"/>
                </a:solidFill>
                <a:latin typeface="Calibri"/>
              </a:rPr>
              <a:t>manifest.json</a:t>
            </a:r>
            <a:r>
              <a:rPr b="0" sz="2600" i="0">
                <a:solidFill>
                  <a:srgbClr val="FFFFFF"/>
                </a:solidFill>
                <a:latin typeface="Calibri"/>
              </a:rPr>
              <a:t>  —  Written Last.  Signals Job Done.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5852160" cy="49194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53312"/>
            <a:ext cx="585216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26464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manifest.json  —  written LAST by XDE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5577840" cy="431596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874519"/>
            <a:ext cx="5376672" cy="41513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{</a:t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"bookId":       "eFX",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"inputFile":    "s3://xena-input/eFX/book.parquet",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"totalDeals":      48178,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"completedDeals":  47000,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"failedDeals":      1178,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"status":          "COMPLETED",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"totalRetries":    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"startTime":   "2026-03-05T18:00:12Z",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"endTime":     "2026-03-05T18:07:42Z",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"durationSeconds": 450,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"resultsPath": "s3://xena-output/eFX/",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"errorPath":   "s3://xena-error/eFX/",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  "gridJobId":   "grid-742912",</a:t>
            </a:r>
          </a:p>
          <a:p>
            <a:pPr algn="l"/>
            <a:r>
              <a:rPr sz="1050">
                <a:solidFill>
                  <a:srgbClr val="F59E0B"/>
                </a:solidFill>
                <a:latin typeface="Consolas"/>
              </a:rPr>
              <a:t>  "version":     "1.0"</a:t>
            </a:r>
          </a:p>
          <a:p>
            <a:pPr algn="l"/>
            <a:r>
              <a:rPr sz="105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353312"/>
            <a:ext cx="5349240" cy="171907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353312"/>
            <a:ext cx="5349240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8" y="1426464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EC0000"/>
                </a:solidFill>
                <a:latin typeface="Consolas"/>
              </a:rPr>
              <a:t>S3 EVENT TRIGGER CHAIN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1755648"/>
            <a:ext cx="658368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1755648"/>
            <a:ext cx="65836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1792224"/>
            <a:ext cx="4343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onsolas"/>
              </a:rPr>
              <a:t>writes  manifest.json  (suffix match)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011680"/>
            <a:ext cx="6583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EC0000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93408" y="2103120"/>
            <a:ext cx="658368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103120"/>
            <a:ext cx="65836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139696"/>
            <a:ext cx="4343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onsolas"/>
              </a:rPr>
              <a:t>fires ObjectCreated 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2359152"/>
            <a:ext cx="6583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F59E0B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3408" y="2450591"/>
            <a:ext cx="658368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2450591"/>
            <a:ext cx="65836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Lambda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87168"/>
            <a:ext cx="4343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onsolas"/>
              </a:rPr>
              <a:t>XENAOutput triggered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2706624"/>
            <a:ext cx="658368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3B82F6"/>
                </a:solidFill>
                <a:latin typeface="Calibri"/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93408" y="2798064"/>
            <a:ext cx="658368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2798064"/>
            <a:ext cx="658368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XENA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2834640"/>
            <a:ext cx="4343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onsolas"/>
              </a:rPr>
              <a:t>registers completion downstream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218688"/>
            <a:ext cx="5349240" cy="305409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3218688"/>
            <a:ext cx="5349240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3291840"/>
            <a:ext cx="50292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  <a:latin typeface="Consolas"/>
              </a:rPr>
              <a:t>BENEFITS OF THIS CONTRACT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3408" y="3675887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3675887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675887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Zero Polling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7072" y="3712463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XENA never polls GRID status. S3 event IS the signal.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3408" y="4187952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8" y="4187952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187952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Deterministic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4224528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manifest.json existence = job done. No ambiguity.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3408" y="4700016"/>
            <a:ext cx="256032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93408" y="4700016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4700016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Minimal 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4736592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&lt;10ms from write to Lambda trigger.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93408" y="5212079"/>
            <a:ext cx="256032" cy="2560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93408" y="5212079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212079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77072" y="5248655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durationSeconds, retries, fail counts — full history.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93408" y="5724144"/>
            <a:ext cx="256032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8" y="5724144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724144"/>
            <a:ext cx="146304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Fault Tolerance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5760720"/>
            <a:ext cx="32004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Missing manifest = job not done. Safe assumption always.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S3 Storage Layout — Precise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Storage Layout &amp; File Contracts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120640" cy="4892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120640" cy="5303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216152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3B82F6"/>
                </a:solidFill>
                <a:latin typeface="Consolas"/>
              </a:rPr>
              <a:t>S3 BUCKET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727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nsolas"/>
              </a:rPr>
              <a:t>s3://xena-output-{env}/{bookId}/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029967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onsolas"/>
              </a:rPr>
              <a:t>├── _progress.json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4871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EC0000"/>
                </a:solidFill>
                <a:latin typeface="Consolas"/>
              </a:rPr>
              <a:t>├── manifest.json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443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  <a:latin typeface="Consolas"/>
              </a:rPr>
              <a:t>└── deals/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    ├── deal_0001.json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587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    ├── deal_0002.json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3159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onsolas"/>
              </a:rPr>
              <a:t>    ├── 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7316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    └── deal_NNNNN.json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138928"/>
            <a:ext cx="5120640" cy="80467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7" y="5193792"/>
            <a:ext cx="4846320" cy="6858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s3://xena-input-{env}/{bookId}/book.parquet  →  read-only
s3://xena-error-{env}/{bookId}/  →  failed deal outputs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87568" y="1143000"/>
            <a:ext cx="6172200" cy="237744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87568" y="114300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70448" y="1234440"/>
            <a:ext cx="5760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926000"/>
                </a:solidFill>
                <a:latin typeface="Consolas"/>
              </a:rPr>
              <a:t>FILE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70448" y="1627632"/>
            <a:ext cx="2103120" cy="31089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88736" y="1664208"/>
            <a:ext cx="206654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nsolas"/>
              </a:rPr>
              <a:t>_progress.json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1682496"/>
            <a:ext cx="36393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Periodic checkpoint — updated by XDE every N deals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70448" y="2084832"/>
            <a:ext cx="2103120" cy="31089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88736" y="2121408"/>
            <a:ext cx="206654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EC0000"/>
                </a:solidFill>
                <a:latin typeface="Consolas"/>
              </a:rPr>
              <a:t>manifest.json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2139696"/>
            <a:ext cx="36393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Completion signal — written LAST, triggers Lambda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70448" y="2542032"/>
            <a:ext cx="2103120" cy="31089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88736" y="2578608"/>
            <a:ext cx="206654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onsolas"/>
              </a:rPr>
              <a:t>deal_XXXX.json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65008" y="2596896"/>
            <a:ext cx="36393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Individual deal result — immutable, idempotent write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70448" y="2999232"/>
            <a:ext cx="2103120" cy="310896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88736" y="3035808"/>
            <a:ext cx="2066543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onsolas"/>
              </a:rPr>
              <a:t>book.parquet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3054096"/>
            <a:ext cx="363931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Input — read-once at job start, never modified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87568" y="3639312"/>
            <a:ext cx="6172200" cy="2724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87568" y="3639312"/>
            <a:ext cx="54864" cy="2724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70448" y="3730752"/>
            <a:ext cx="57607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057A55"/>
                </a:solidFill>
                <a:latin typeface="Consolas"/>
              </a:rPr>
              <a:t>SCALING PROPERTIES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70448" y="4133087"/>
            <a:ext cx="1005840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70448" y="4133087"/>
            <a:ext cx="10058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178807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Processed independently — no cross-book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4178807"/>
            <a:ext cx="1051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∞ horizontal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70448" y="4663440"/>
            <a:ext cx="1005840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70448" y="4663440"/>
            <a:ext cx="10058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709159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Each deal → one S3 object, idempotent write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52760" y="4709159"/>
            <a:ext cx="1051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O(1) per deal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0448" y="5193792"/>
            <a:ext cx="1005840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5193792"/>
            <a:ext cx="10058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GRID Nodes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5239512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Add nodes → linear throughput increase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52760" y="5239512"/>
            <a:ext cx="1051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Linear scale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70448" y="5724144"/>
            <a:ext cx="1005840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70448" y="5724144"/>
            <a:ext cx="1005840" cy="32918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Threads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769864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 threads → N-way parallelism inside node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5769864"/>
            <a:ext cx="10515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Consolas"/>
              </a:rPr>
              <a:t>Near-linear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14 / 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onsolas"/>
              </a:rPr>
              <a:t>Resilience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Reconciliation Mode — Partial Failure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170432"/>
            <a:ext cx="3657600" cy="5010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70432"/>
            <a:ext cx="3657600" cy="53035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57400" y="1261872"/>
            <a:ext cx="548640" cy="548640"/>
          </a:xfrm>
          <a:prstGeom prst="ellipse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26187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383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 i="0">
                <a:solidFill>
                  <a:srgbClr val="111827"/>
                </a:solidFill>
                <a:latin typeface="Calibri"/>
              </a:rPr>
              <a:t>Standard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3383280" cy="8046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Full execution across all deals in a book. Used for initial runs and scheduled jobs.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337559"/>
            <a:ext cx="256032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28415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346703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All deals processed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959351"/>
            <a:ext cx="256032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50207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3968495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No prior state checked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81144"/>
            <a:ext cx="256032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4590288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Full manifest written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02936"/>
            <a:ext cx="256032" cy="2560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93792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5212079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Baseline performance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170432"/>
            <a:ext cx="3657600" cy="5010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1170432"/>
            <a:ext cx="3657600" cy="5303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126187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126187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1920240"/>
            <a:ext cx="3383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 i="0">
                <a:solidFill>
                  <a:srgbClr val="111827"/>
                </a:solidFill>
                <a:latin typeface="Calibri"/>
              </a:rPr>
              <a:t>Reconciliation Mode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359152"/>
            <a:ext cx="3383280" cy="8046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reconciliation=true in payload. XDE checks S3 before computing each deal.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3337559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3328415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72" y="3346703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Check S3 for existing 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959351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3950207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9472" y="3968495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Skip if result is valid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4581144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4572000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19472" y="4590288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Re-compute only failed deals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5202936"/>
            <a:ext cx="25603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5193792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19472" y="5212079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&lt; 1% rework on typical failure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170432"/>
            <a:ext cx="3657600" cy="501091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5320" y="1170432"/>
            <a:ext cx="3657600" cy="5303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829800" y="126187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29800" y="1261872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1920240"/>
            <a:ext cx="338328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500" b="1" i="0">
                <a:solidFill>
                  <a:srgbClr val="111827"/>
                </a:solidFill>
                <a:latin typeface="Calibri"/>
              </a:rPr>
              <a:t>Recovery Outcome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2359152"/>
            <a:ext cx="3383280" cy="8046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Fast recovery after node failure, OOM, or partial timeout events.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58200" y="3337559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3328415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05672" y="3346703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Recovery time: minutes not hours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8200" y="3959351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58200" y="3950207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672" y="3968495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Cost: compute only missing deals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58200" y="4581144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4572000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05672" y="4590288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Idempotent: safe to re-run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58200" y="5202936"/>
            <a:ext cx="256032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58200" y="5193792"/>
            <a:ext cx="256032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805672" y="5212079"/>
            <a:ext cx="2971800" cy="2377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Audit trail preserved in S3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263640"/>
            <a:ext cx="12191695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2880" y="6281928"/>
            <a:ext cx="1179576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2608" y="6373368"/>
            <a:ext cx="11594592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>
                <a:solidFill>
                  <a:srgbClr val="6B7280"/>
                </a:solidFill>
                <a:latin typeface="Consolas"/>
              </a:rPr>
              <a:t>// XDE reconciliation — payload.reconciliation == true</a:t>
            </a:r>
          </a:p>
          <a:p>
            <a:pPr algn="l"/>
            <a:r>
              <a:rPr sz="1050">
                <a:solidFill>
                  <a:srgbClr val="3B82F6"/>
                </a:solidFill>
                <a:latin typeface="Consolas"/>
              </a:rPr>
              <a:t>if (resultExists(dealId))  skip;   // deal already computed, O(1) S3 HEAD</a:t>
            </a:r>
          </a:p>
          <a:p>
            <a:pPr algn="l"/>
            <a:r>
              <a:rPr sz="1050">
                <a:solidFill>
                  <a:srgbClr val="34D399"/>
                </a:solidFill>
                <a:latin typeface="Consolas"/>
              </a:rPr>
              <a:t>else                        process(dealId);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15 / 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Engineering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"/>
            <a:ext cx="10515600" cy="7315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1" sz="3400" i="0">
                <a:solidFill>
                  <a:srgbClr val="FFFFFF"/>
                </a:solidFill>
                <a:latin typeface="Calibri"/>
              </a:rPr>
              <a:t>Design Principles</a:t>
            </a:r>
            <a:r>
              <a:rPr b="0" sz="2800" i="0">
                <a:solidFill>
                  <a:srgbClr val="9CA3AF"/>
                </a:solidFill>
                <a:latin typeface="Calibri"/>
              </a:rPr>
              <a:t>  Applied to XENA +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64008" cy="14447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088" y="1627632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27632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EC0000"/>
                </a:solidFill>
                <a:latin typeface="Consolas"/>
              </a:rPr>
              <a:t>SRP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16002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Single 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2011680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Each service does exactly one thing. XENA orchestrates. GRID computes. S3 stores.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4630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463040"/>
            <a:ext cx="64008" cy="1444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6248" y="1627632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627632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onsolas"/>
              </a:rPr>
              <a:t>CCS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632" y="16002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Control / Compute Separation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2632" y="2011680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XENA services never touch deal maths. GRID never manages job routing or progress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632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63240"/>
            <a:ext cx="64008" cy="1444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" y="3227832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27832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onsolas"/>
              </a:rPr>
              <a:t>EDA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32004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Event-Driven Completion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3611880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No polling loops. S3 manifest.json suffix triggers Lambda exactly once.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0632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063240"/>
            <a:ext cx="64008" cy="1444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3227832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227832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onsolas"/>
              </a:rPr>
              <a:t>SLS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2632" y="32004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Stateless Orchestration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2632" y="3611880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XENA EKS pods are fully stateless. Any pod can handle any request. Scale freely.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634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63440"/>
            <a:ext cx="64008" cy="1444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" y="4828031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828031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onsolas"/>
              </a:rPr>
              <a:t>IMM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90472" y="48006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Immutable Compute Outputs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0472" y="5212079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S3 objects are write-once. Reproducible results, auditable lineage, zero state drift.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663440"/>
            <a:ext cx="5577840" cy="144475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4663440"/>
            <a:ext cx="64008" cy="14447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56248" y="4828031"/>
            <a:ext cx="658368" cy="43891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56248" y="4828031"/>
            <a:ext cx="658368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onsolas"/>
              </a:rPr>
              <a:t>HTC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632" y="4800600"/>
            <a:ext cx="446227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Horizontal 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42632" y="5212079"/>
            <a:ext cx="446227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Throughput scales linearly with added GRID nodes. No shared mutable state between workers.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989320"/>
            <a:ext cx="11183112" cy="384048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016752"/>
            <a:ext cx="1118311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  <a:latin typeface="Calibri"/>
              </a:rPr>
              <a:t>"Architecture is the decisions that are hard to change later."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9436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68" y="237744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237744"/>
            <a:ext cx="384048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700" b="1" i="0">
                <a:solidFill>
                  <a:srgbClr val="EC0000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91440"/>
            <a:ext cx="82296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onsolas"/>
              </a:rPr>
              <a:t>Capacity Planning &amp;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"/>
            <a:ext cx="10058400" cy="52120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By The Numbers — Throughput &amp;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097280"/>
            <a:ext cx="12191695" cy="1463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800+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deals /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Target throughput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326,897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total deals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Production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6824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CPU utilisation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With deal-level parallelism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~409s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full dataset 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At 800 deals/min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memory / msg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Shared storage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1143000"/>
            <a:ext cx="1874519" cy="6583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3400" b="1" i="0">
                <a:solidFill>
                  <a:srgbClr val="EC0000"/>
                </a:solidFill>
                <a:latin typeface="Calibri"/>
              </a:rPr>
              <a:t>&lt;10ms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17556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event latency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2011680"/>
            <a:ext cx="1874519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Completion notification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24912"/>
            <a:ext cx="11475720" cy="347472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761488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1" i="0">
                <a:solidFill>
                  <a:srgbClr val="6B7280"/>
                </a:solidFill>
                <a:latin typeface="Consolas"/>
              </a:rPr>
              <a:t>THROUGHPUT DERIVATION  —  CORRECTED METRIC: 800+ DEALS/MIN  ·  ~2 MB/DEAL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54680"/>
            <a:ext cx="2715768" cy="2743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154680"/>
            <a:ext cx="2715768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24612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Volume Equation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685032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" y="3739896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800 deals/min  ×  2 MB/deal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" y="4343400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4398264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=  1,600 MB/min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" y="5001768"/>
            <a:ext cx="2514600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5056632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EC0000"/>
                </a:solidFill>
                <a:latin typeface="Consolas"/>
              </a:rPr>
              <a:t>≈  26.7 MB/sec sustained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4408" y="3154680"/>
            <a:ext cx="2715768" cy="2743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64408" y="3154680"/>
            <a:ext cx="2715768" cy="50292"/>
          </a:xfrm>
          <a:prstGeom prst="rect">
            <a:avLst/>
          </a:prstGeom>
          <a:solidFill>
            <a:srgbClr val="A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4136" y="324612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Redis Memory Model (Legacy)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74136" y="3685032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92424" y="3739896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M(t) = Σᵢ payload_i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4136" y="4343400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92424" y="4398264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M(800 deals) ≈ 1.6 GB in-memory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74136" y="5001768"/>
            <a:ext cx="2514600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92424" y="5056632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A30000"/>
                </a:solidFill>
                <a:latin typeface="Consolas"/>
              </a:rPr>
              <a:t>→  Unbounded. Catastrophic.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63056" y="3154680"/>
            <a:ext cx="2715768" cy="2743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63056" y="3154680"/>
            <a:ext cx="2715768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72784" y="324612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S3 Memory Model (XENA)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72784" y="3685032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3739896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M = O(1) per message reference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72784" y="4343400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2" y="4398264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Pointer cost ≈ 256 bytes per job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72784" y="5001768"/>
            <a:ext cx="2514600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5056632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nsolas"/>
              </a:rPr>
              <a:t>→  Constant. Safe. Scalable.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61704" y="3154680"/>
            <a:ext cx="2715768" cy="2743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61704" y="3154680"/>
            <a:ext cx="2715768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71432" y="3246120"/>
            <a:ext cx="251460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Calibri"/>
              </a:rPr>
              <a:t>Parallelism Model (XDE)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71432" y="3685032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89720" y="3739896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T(n) = T_serial / n + T_overhead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71432" y="4343400"/>
            <a:ext cx="2514600" cy="53035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4398264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Overhead ≈ 2% (work-steal sched)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71432" y="5001768"/>
            <a:ext cx="2514600" cy="5303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9720" y="5056632"/>
            <a:ext cx="2478024" cy="42062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3B82F6"/>
                </a:solidFill>
                <a:latin typeface="Consolas"/>
              </a:rPr>
              <a:t>Efficiency = 98% at 32 cores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onsolas"/>
              </a:rPr>
              <a:t>17 / 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onsolas"/>
              </a:rPr>
              <a:t>SANTANDER · XENA MVP2 ·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0872" cy="649224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EC0000"/>
                </a:solidFill>
                <a:latin typeface="Consolas"/>
              </a:rPr>
              <a:t>Strategic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6400800" cy="9601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b="0" sz="4000" i="0">
                <a:solidFill>
                  <a:srgbClr val="FFFFFF"/>
                </a:solidFill>
                <a:latin typeface="Calibri"/>
              </a:rPr>
              <a:t>Why This </a:t>
            </a:r>
            <a:r>
              <a:rPr b="1" sz="4000" i="0">
                <a:solidFill>
                  <a:srgbClr val="EC0000"/>
                </a:solidFill>
                <a:latin typeface="Calibri"/>
              </a:rPr>
              <a:t>Strengthens</a:t>
            </a:r>
            <a:r>
              <a:rPr b="0" sz="4000" i="0">
                <a:solidFill>
                  <a:srgbClr val="FFFFFF"/>
                </a:solidFill>
                <a:latin typeface="Calibri"/>
              </a:rPr>
              <a:t>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4389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CPU-Bound, Not Integration-Bound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1965960"/>
            <a:ext cx="2240280" cy="25603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965960"/>
            <a:ext cx="2240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EC0000"/>
                </a:solidFill>
                <a:latin typeface="Consolas"/>
              </a:rPr>
              <a:t>60% →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67712"/>
            <a:ext cx="59893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GRID focuses purely on complex compute without transport overhead. No polling tax.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44368"/>
            <a:ext cx="548640" cy="54864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944368"/>
            <a:ext cx="4389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Zero Polling Pressure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990088"/>
            <a:ext cx="2240280" cy="25603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990088"/>
            <a:ext cx="2240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EC0000"/>
                </a:solidFill>
                <a:latin typeface="Consolas"/>
              </a:rPr>
              <a:t>0 wasted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91840"/>
            <a:ext cx="59893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Eliminates wasted CPU cycles. S3 manifest.json event triggers work precisely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68496"/>
            <a:ext cx="548640" cy="54864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68496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968496"/>
            <a:ext cx="4389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Clean Compute Isolation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4014215"/>
            <a:ext cx="2240280" cy="25603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4014215"/>
            <a:ext cx="2240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EC0000"/>
                </a:solidFill>
                <a:latin typeface="Consolas"/>
              </a:rPr>
              <a:t>3-tier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15968"/>
            <a:ext cx="59893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Strict SRP: orchestration, storage, and calculation are fully decoupled layers.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92624"/>
            <a:ext cx="548640" cy="548640"/>
          </a:xfrm>
          <a:prstGeom prst="rect">
            <a:avLst/>
          </a:prstGeom>
          <a:solidFill>
            <a:srgbClr val="2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92624"/>
            <a:ext cx="54864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2000" b="0" i="0">
                <a:solidFill>
                  <a:srgbClr val="EC0000"/>
                </a:solidFill>
                <a:latin typeface="Calibri"/>
              </a:rPr>
              <a:t>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992624"/>
            <a:ext cx="4389120" cy="3108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HPC-Friendly — HTC Ready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5038344"/>
            <a:ext cx="2240280" cy="256032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5038344"/>
            <a:ext cx="2240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0">
                <a:solidFill>
                  <a:srgbClr val="EC0000"/>
                </a:solidFill>
                <a:latin typeface="Consolas"/>
              </a:rPr>
              <a:t>326K+ deals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40096"/>
            <a:ext cx="5989320" cy="56692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Coarse-grained orchestration · local scheduling · dynamic load balancing · deterministic completion.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02920"/>
            <a:ext cx="1463040" cy="1463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800" b="0" i="1">
                <a:solidFill>
                  <a:srgbClr val="2A0404"/>
                </a:solidFill>
                <a:latin typeface="Georgia"/>
              </a:rPr>
              <a:t>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1572768"/>
            <a:ext cx="4297680" cy="1737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Calibri"/>
              </a:rPr>
              <a:t>Integration should not
limit compute scalability.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26679" y="3364992"/>
            <a:ext cx="566928" cy="5029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79" y="3456432"/>
            <a:ext cx="38404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EC0000"/>
                </a:solidFill>
                <a:latin typeface="Consolas"/>
              </a:rPr>
              <a:t>Core Principle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3858768"/>
            <a:ext cx="4572000" cy="242316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3858768"/>
            <a:ext cx="4572000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3931920"/>
            <a:ext cx="42062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onsolas"/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62672" y="4279392"/>
            <a:ext cx="4297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→  XDE integration tests with GRID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62672" y="4754879"/>
            <a:ext cx="4297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→  Load test: 800+ deals/min sustained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5230368"/>
            <a:ext cx="4297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→  Reconciliation mode end-to-end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2672" y="5705856"/>
            <a:ext cx="4297680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→  Production rollout — phased by book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XENA MVP2 · GRID ARCHITECTURE DEEP DIVE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651052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126480"/>
            <a:ext cx="82296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onsola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