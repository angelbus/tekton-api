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418320" y="-457200"/>
            <a:ext cx="1371600" cy="7772400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241280" y="-457200"/>
            <a:ext cx="2011680" cy="77724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301752"/>
            <a:ext cx="384048" cy="384048"/>
          </a:xfrm>
          <a:prstGeom prst="ellipse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01752"/>
            <a:ext cx="384048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39728" y="347472"/>
            <a:ext cx="621792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Santander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64008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onsolas"/>
              </a:rPr>
              <a:t>CONFIDENTIAL // MVP2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755648"/>
            <a:ext cx="1828800" cy="59436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01952"/>
            <a:ext cx="8686800" cy="9601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7000" b="1" i="0">
                <a:solidFill>
                  <a:srgbClr val="FFFFFF"/>
                </a:solidFill>
                <a:latin typeface="Calibri"/>
              </a:rPr>
              <a:t>XENA MVP2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834640"/>
            <a:ext cx="8686800" cy="7772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5400" b="0" i="0">
                <a:solidFill>
                  <a:srgbClr val="FFFFFF"/>
                </a:solidFill>
                <a:latin typeface="Calibri"/>
              </a:rPr>
              <a:t>GRID Integration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49039"/>
            <a:ext cx="777240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200" b="0" i="0">
                <a:solidFill>
                  <a:srgbClr val="EC0000"/>
                </a:solidFill>
                <a:latin typeface="Calibri"/>
              </a:rPr>
              <a:t>Shared Storage Architecture for High-Throughput FMTM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709160"/>
            <a:ext cx="2743200" cy="228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828032"/>
            <a:ext cx="4572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846320"/>
            <a:ext cx="36576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nsolas"/>
              </a:rPr>
              <a:t>PREPARED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065776"/>
            <a:ext cx="365760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Angel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1887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onsolas"/>
              </a:rPr>
              <a:t>03/03/2026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10528"/>
            <a:ext cx="7315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onsolas"/>
              </a:rPr>
              <a:t>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5448" y="32004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320040"/>
            <a:ext cx="384048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700" b="1" i="0">
                <a:solidFill>
                  <a:srgbClr val="EC0000"/>
                </a:solidFill>
                <a:latin typeface="Calibri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" y="5486400"/>
            <a:ext cx="274320" cy="10972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onsolas"/>
              </a:rP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0"/>
            <a:ext cx="11439144" cy="1115568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115568"/>
            <a:ext cx="11439144" cy="59436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91440"/>
            <a:ext cx="82296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nsolas"/>
              </a:rPr>
              <a:t>Current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"/>
            <a:ext cx="960120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GRID Today — Batch Client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389888"/>
            <a:ext cx="566928" cy="56692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389888"/>
            <a:ext cx="566928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200" b="0" i="0">
                <a:solidFill>
                  <a:srgbClr val="EC0000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1408176"/>
            <a:ext cx="420624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Consolas"/>
              </a:rPr>
              <a:t>WORKLOAD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609344"/>
            <a:ext cx="420624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Calibri"/>
              </a:rPr>
              <a:t>Calibrations · Greeks · PnL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956816"/>
            <a:ext cx="420624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Standard financial risk calculations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560320"/>
            <a:ext cx="566928" cy="56692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560320"/>
            <a:ext cx="566928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200" b="0" i="0">
                <a:solidFill>
                  <a:srgbClr val="EC0000"/>
                </a:solidFill>
                <a:latin typeface="Calibri"/>
              </a:rP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2578608"/>
            <a:ext cx="420624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Consolas"/>
              </a:rPr>
              <a:t>VOLUME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2779776"/>
            <a:ext cx="420624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Calibri"/>
              </a:rPr>
              <a:t>Predictable, periodic batch jobs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127248"/>
            <a:ext cx="420624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Scheduled execution windows (EOD, Intraday)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730752"/>
            <a:ext cx="566928" cy="56692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730752"/>
            <a:ext cx="566928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200" b="0" i="0">
                <a:solidFill>
                  <a:srgbClr val="EC0000"/>
                </a:solidFill>
                <a:latin typeface="Calibri"/>
              </a:rPr>
              <a:t>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3749039"/>
            <a:ext cx="420624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Consolas"/>
              </a:rPr>
              <a:t>CONCURRENCY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950208"/>
            <a:ext cx="420624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Calibri"/>
              </a:rPr>
              <a:t>Moderate — not sustained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4297680"/>
            <a:ext cx="420624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Bursts are limited to specific timeframes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4901183"/>
            <a:ext cx="566928" cy="56692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901183"/>
            <a:ext cx="566928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200" b="0" i="0">
                <a:solidFill>
                  <a:srgbClr val="EC0000"/>
                </a:solidFill>
                <a:latin typeface="Calibri"/>
              </a:rP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4919471"/>
            <a:ext cx="420624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Consolas"/>
              </a:rPr>
              <a:t>THROUGHPUT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27632" y="5120640"/>
            <a:ext cx="420624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Calibri"/>
              </a:rPr>
              <a:t>Not high-throughput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7632" y="5468112"/>
            <a:ext cx="420624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Optimized for reliability over speed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1417320"/>
            <a:ext cx="5212080" cy="14173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0" y="1417320"/>
            <a:ext cx="64008" cy="141732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1463040"/>
            <a:ext cx="475488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00" b="1" i="0">
                <a:solidFill>
                  <a:srgbClr val="A30000"/>
                </a:solidFill>
                <a:latin typeface="Consolas"/>
              </a:rPr>
              <a:t>LEGACY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1737360"/>
            <a:ext cx="4754880" cy="9601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b="1" sz="1500">
                <a:solidFill>
                  <a:srgbClr val="000000"/>
                </a:solidFill>
                <a:latin typeface="Calibri"/>
              </a:rPr>
              <a:t>MUREX</a:t>
            </a:r>
            <a:r>
              <a:rPr b="0" sz="1300">
                <a:solidFill>
                  <a:srgbClr val="333333"/>
                </a:solidFill>
                <a:latin typeface="Calibri"/>
              </a:rPr>
              <a:t> is the canonical existing client, defining the current batch-oriented integration pattern.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063240"/>
            <a:ext cx="521208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onsolas"/>
              </a:rPr>
              <a:t>Throughput Complexity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383280"/>
            <a:ext cx="3840480" cy="5303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383280"/>
            <a:ext cx="3840480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onsolas"/>
              </a:rPr>
              <a:t>O(n · batch_size)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050791"/>
            <a:ext cx="521208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Linear scaling limited by batch window constraints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537960"/>
            <a:ext cx="731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"/>
            <a:ext cx="73152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onsolas"/>
              </a:rPr>
              <a:t>Performance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"/>
            <a:ext cx="9601200" cy="7315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b="1" sz="3200">
                <a:solidFill>
                  <a:srgbClr val="FFFFFF"/>
                </a:solidFill>
                <a:latin typeface="Calibri"/>
              </a:rPr>
              <a:t>MVP2 </a:t>
            </a:r>
            <a:r>
              <a:rPr b="0" sz="3200">
                <a:solidFill>
                  <a:srgbClr val="9CA3AF"/>
                </a:solidFill>
                <a:latin typeface="Calibri"/>
              </a:rPr>
              <a:t>— First High-Throughput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261872"/>
            <a:ext cx="12191695" cy="1417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800" b="1" i="0">
                <a:solidFill>
                  <a:srgbClr val="EC0000"/>
                </a:solidFill>
                <a:latin typeface="Calibri"/>
              </a:rPr>
              <a:t>800+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06040"/>
            <a:ext cx="12191695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BOOKS PER MINUTE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154680"/>
            <a:ext cx="5440680" cy="13716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154680"/>
            <a:ext cx="5440680" cy="50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" y="3319272"/>
            <a:ext cx="475488" cy="475488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319272"/>
            <a:ext cx="475488" cy="4754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800" b="0" i="0">
                <a:solidFill>
                  <a:srgbClr val="EC0000"/>
                </a:solidFill>
                <a:latin typeface="Calibri"/>
              </a:rPr>
              <a:t>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73552"/>
            <a:ext cx="452628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Continuous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630168"/>
            <a:ext cx="4526280" cy="7772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No batch windows. System operates on an always-on stream architecture.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3154680"/>
            <a:ext cx="5440680" cy="13716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3154680"/>
            <a:ext cx="5440680" cy="50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19672" y="3319272"/>
            <a:ext cx="475488" cy="475488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3319272"/>
            <a:ext cx="475488" cy="4754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800" b="0" i="0">
                <a:solidFill>
                  <a:srgbClr val="EC0000"/>
                </a:solidFill>
                <a:latin typeface="Calibri"/>
              </a:rPr>
              <a:t>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273552"/>
            <a:ext cx="452628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Horizontal Concurrency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630168"/>
            <a:ext cx="4526280" cy="7772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Scale-out compute model allowing linear growth with added resources.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663440"/>
            <a:ext cx="5440680" cy="13716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663440"/>
            <a:ext cx="5440680" cy="50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2" y="4828031"/>
            <a:ext cx="475488" cy="475488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828031"/>
            <a:ext cx="475488" cy="4754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800" b="0" i="0">
                <a:solidFill>
                  <a:srgbClr val="EC0000"/>
                </a:solidFill>
                <a:latin typeface="Calibri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82312"/>
            <a:ext cx="452628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Burst-Capable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38927"/>
            <a:ext cx="4526280" cy="7772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Elastic capacity on demand to handle intraday volume spikes.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663440"/>
            <a:ext cx="5440680" cy="13716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663440"/>
            <a:ext cx="5440680" cy="50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19672" y="4828031"/>
            <a:ext cx="475488" cy="475488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4828031"/>
            <a:ext cx="475488" cy="4754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800" b="0" i="0">
                <a:solidFill>
                  <a:srgbClr val="EC0000"/>
                </a:solidFill>
                <a:latin typeface="Calibri"/>
              </a:rPr>
              <a:t>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782312"/>
            <a:ext cx="452628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Event-Driven Scaling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138927"/>
            <a:ext cx="4526280" cy="7772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Triggered by data arrival events rather than scheduled clock times.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6153912"/>
            <a:ext cx="4892040" cy="42976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6153912"/>
            <a:ext cx="4892040" cy="4297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onsolas"/>
              </a:rPr>
              <a:t>System State:  λ_arrival  ≫  λ_batch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Consolas"/>
              </a:rPr>
              <a:t>SANTANDER //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onsolas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9436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1168" y="23774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237744"/>
            <a:ext cx="384048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700" b="1" i="0">
                <a:solidFill>
                  <a:srgbClr val="EC0000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1440"/>
            <a:ext cx="82296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nsolas"/>
              </a:rPr>
              <a:t>MVP2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5760"/>
            <a:ext cx="10058400" cy="52120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Shared Storage Architecture — Visual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916936"/>
            <a:ext cx="1014984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1719072"/>
            <a:ext cx="1691640" cy="13898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3058668"/>
            <a:ext cx="1691640" cy="502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49424"/>
            <a:ext cx="169164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 Lake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87752"/>
            <a:ext cx="169164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onsolas"/>
              </a:rPr>
              <a:t>(MUREX)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6152" y="3246120"/>
            <a:ext cx="1179576" cy="31089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3246120"/>
            <a:ext cx="1179576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Calibri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336" y="2286000"/>
            <a:ext cx="22860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000" b="0" i="0">
                <a:solidFill>
                  <a:srgbClr val="EC0000"/>
                </a:solidFill>
                <a:latin typeface="Calibri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1719072"/>
            <a:ext cx="1691640" cy="13898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63240" y="3058668"/>
            <a:ext cx="1691640" cy="5029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2249424"/>
            <a:ext cx="169164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XENA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587752"/>
            <a:ext cx="169164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onsolas"/>
              </a:rPr>
              <a:t>S3 Bucket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9272" y="3246120"/>
            <a:ext cx="1179576" cy="31089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9272" y="3246120"/>
            <a:ext cx="1179576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Calibri"/>
              </a:rPr>
              <a:t>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6" y="2286000"/>
            <a:ext cx="22860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000" b="0" i="0">
                <a:solidFill>
                  <a:srgbClr val="EC0000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1719072"/>
            <a:ext cx="1691640" cy="1389888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66360" y="3058668"/>
            <a:ext cx="1691640" cy="50292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2249424"/>
            <a:ext cx="169164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FMTMService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587752"/>
            <a:ext cx="169164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onsolas"/>
              </a:rPr>
              <a:t>Orchestration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22392" y="3246120"/>
            <a:ext cx="1179576" cy="31089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22392" y="3246120"/>
            <a:ext cx="1179576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Calibri"/>
              </a:rP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286000"/>
            <a:ext cx="22860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000" b="0" i="0">
                <a:solidFill>
                  <a:srgbClr val="EC0000"/>
                </a:solidFill>
                <a:latin typeface="Calibri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1719072"/>
            <a:ext cx="1691640" cy="13898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9480" y="3058668"/>
            <a:ext cx="1691640" cy="502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2249424"/>
            <a:ext cx="169164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587752"/>
            <a:ext cx="169164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onsolas"/>
              </a:rPr>
              <a:t>C++ Compute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3246120"/>
            <a:ext cx="1179576" cy="31089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3246120"/>
            <a:ext cx="1179576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Calibri"/>
              </a:rPr>
              <a:t>Compute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97696" y="2286000"/>
            <a:ext cx="22860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000" b="0" i="0">
                <a:solidFill>
                  <a:srgbClr val="EC0000"/>
                </a:solidFill>
                <a:latin typeface="Calibri"/>
              </a:rPr>
              <a:t>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72600" y="1719072"/>
            <a:ext cx="1691640" cy="13898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72600" y="3058668"/>
            <a:ext cx="1691640" cy="5029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72600" y="2249424"/>
            <a:ext cx="169164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XENA 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2587752"/>
            <a:ext cx="169164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onsolas"/>
              </a:rPr>
              <a:t>S3 Bucket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28632" y="3246120"/>
            <a:ext cx="1179576" cy="31089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28632" y="3246120"/>
            <a:ext cx="1179576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Calibri"/>
              </a:rPr>
              <a:t>Result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37360" y="3730752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0" y="3758184"/>
            <a:ext cx="393192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✓  S3 as universal data contract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3730752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0" y="3758184"/>
            <a:ext cx="393192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✓  Decoupled compute from transport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24535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0" y="6291072"/>
            <a:ext cx="12191695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  <a:latin typeface="Consolas"/>
              </a:rPr>
              <a:t>ƒ:  MUREX_data  →  S3_object  →  GRID_job  →  S3_result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59436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6304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"/>
            <a:ext cx="6096304" cy="6798564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304" y="59436"/>
            <a:ext cx="6096304" cy="67985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32120" y="2834640"/>
            <a:ext cx="1115568" cy="11155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32120" y="2834640"/>
            <a:ext cx="1115568" cy="11155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3000" b="1" i="1">
                <a:solidFill>
                  <a:srgbClr val="1A1A1A"/>
                </a:solidFill>
                <a:latin typeface="Calibri"/>
              </a:rPr>
              <a:t>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1" i="0">
                <a:solidFill>
                  <a:srgbClr val="A30000"/>
                </a:solidFill>
                <a:latin typeface="Consolas"/>
              </a:rPr>
              <a:t>Legacy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502920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3600" b="1" i="0">
                <a:solidFill>
                  <a:srgbClr val="111827"/>
                </a:solidFill>
                <a:latin typeface="Calibri"/>
              </a:rPr>
              <a:t>Polling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493776" cy="493776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19072"/>
            <a:ext cx="493776" cy="49377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0" i="0">
                <a:solidFill>
                  <a:srgbClr val="EC0000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1810512"/>
            <a:ext cx="4572000" cy="40233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Calibri"/>
              </a:rPr>
              <a:t>Redis as transport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15184"/>
            <a:ext cx="493776" cy="493776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15184"/>
            <a:ext cx="493776" cy="49377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0" i="0">
                <a:solidFill>
                  <a:srgbClr val="EC0000"/>
                </a:solidFill>
                <a:latin typeface="Calibr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2706624"/>
            <a:ext cx="4572000" cy="40233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Calibri"/>
              </a:rPr>
              <a:t>Continuous polling loop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11296"/>
            <a:ext cx="493776" cy="493776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11296"/>
            <a:ext cx="493776" cy="49377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0" i="0">
                <a:solidFill>
                  <a:srgbClr val="EC0000"/>
                </a:solidFill>
                <a:latin typeface="Calibri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3602736"/>
            <a:ext cx="4572000" cy="40233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Calibri"/>
              </a:rPr>
              <a:t>Memory-bound scaling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07408"/>
            <a:ext cx="493776" cy="493776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07408"/>
            <a:ext cx="493776" cy="49377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0" i="0">
                <a:solidFill>
                  <a:srgbClr val="EC0000"/>
                </a:solidFill>
                <a:latin typeface="Calibri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4498848"/>
            <a:ext cx="4572000" cy="40233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Calibri"/>
              </a:rPr>
              <a:t>O(n) memory growth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742432"/>
            <a:ext cx="5029200" cy="59436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779008"/>
            <a:ext cx="50292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500" b="0" i="0">
                <a:solidFill>
                  <a:srgbClr val="A30000"/>
                </a:solidFill>
                <a:latin typeface="Consolas"/>
              </a:rPr>
              <a:t>Memory  ∝  Volume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11480"/>
            <a:ext cx="50292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onsolas"/>
              </a:rPr>
              <a:t>Target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749808"/>
            <a:ext cx="502920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Shared Storage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01968" y="1719072"/>
            <a:ext cx="493776" cy="493776"/>
          </a:xfrm>
          <a:prstGeom prst="rect">
            <a:avLst/>
          </a:prstGeom>
          <a:solidFill>
            <a:srgbClr val="063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1719072"/>
            <a:ext cx="493776" cy="49377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0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2" y="1810512"/>
            <a:ext cx="4572000" cy="40233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0" i="0">
                <a:solidFill>
                  <a:srgbClr val="E5E7EB"/>
                </a:solidFill>
                <a:latin typeface="Calibri"/>
              </a:rPr>
              <a:t>S3 as data contract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1968" y="2615184"/>
            <a:ext cx="493776" cy="493776"/>
          </a:xfrm>
          <a:prstGeom prst="rect">
            <a:avLst/>
          </a:prstGeom>
          <a:solidFill>
            <a:srgbClr val="063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2615184"/>
            <a:ext cx="493776" cy="49377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0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472" y="2706624"/>
            <a:ext cx="4572000" cy="40233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0" i="0">
                <a:solidFill>
                  <a:srgbClr val="E5E7EB"/>
                </a:solidFill>
                <a:latin typeface="Calibri"/>
              </a:rPr>
              <a:t>Event-driven triggers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01968" y="3511296"/>
            <a:ext cx="493776" cy="493776"/>
          </a:xfrm>
          <a:prstGeom prst="rect">
            <a:avLst/>
          </a:prstGeom>
          <a:solidFill>
            <a:srgbClr val="063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3511296"/>
            <a:ext cx="493776" cy="49377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0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5472" y="3602736"/>
            <a:ext cx="4572000" cy="40233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0" i="0">
                <a:solidFill>
                  <a:srgbClr val="E5E7EB"/>
                </a:solidFill>
                <a:latin typeface="Calibri"/>
              </a:rPr>
              <a:t>Compute-bound scaling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01968" y="4407408"/>
            <a:ext cx="493776" cy="493776"/>
          </a:xfrm>
          <a:prstGeom prst="rect">
            <a:avLst/>
          </a:prstGeom>
          <a:solidFill>
            <a:srgbClr val="063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4407408"/>
            <a:ext cx="493776" cy="49377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0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5472" y="4498848"/>
            <a:ext cx="4572000" cy="40233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0" i="0">
                <a:solidFill>
                  <a:srgbClr val="E5E7EB"/>
                </a:solidFill>
                <a:latin typeface="Calibri"/>
              </a:rPr>
              <a:t>O(1) storage per message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01968" y="5742432"/>
            <a:ext cx="5303520" cy="59436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1968" y="5779008"/>
            <a:ext cx="53035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500" b="0" i="0">
                <a:solidFill>
                  <a:srgbClr val="E5E7EB"/>
                </a:solidFill>
                <a:latin typeface="Consolas"/>
              </a:rPr>
              <a:t>Memory  =  const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537960"/>
            <a:ext cx="7315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1" i="0">
                <a:solidFill>
                  <a:srgbClr val="EC0000"/>
                </a:solidFill>
                <a:latin typeface="Consolas"/>
              </a:rPr>
              <a:t>Data Science &amp; Capacity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960120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b="1" sz="3000">
                <a:solidFill>
                  <a:srgbClr val="FFFFFF"/>
                </a:solidFill>
                <a:latin typeface="Calibri"/>
              </a:rPr>
              <a:t>Throughput Math </a:t>
            </a:r>
            <a:r>
              <a:rPr b="0" sz="3000">
                <a:solidFill>
                  <a:srgbClr val="9CA3AF"/>
                </a:solidFill>
                <a:latin typeface="Calibri"/>
              </a:rPr>
              <a:t>— Why Architecture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908792" cy="100584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07592"/>
            <a:ext cx="10908792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</a:rPr>
              <a:t>800 books/min  ×  50 MB/book  =  40 GB/min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10908792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0" i="0">
                <a:solidFill>
                  <a:srgbClr val="EC0000"/>
                </a:solidFill>
                <a:latin typeface="Consolas"/>
              </a:rPr>
              <a:t>≈ 667 MB/sec sustained data movement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50592"/>
            <a:ext cx="5440680" cy="30358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50592"/>
            <a:ext cx="5440680" cy="53035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512064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1" i="0">
                <a:solidFill>
                  <a:srgbClr val="EC0000"/>
                </a:solidFill>
                <a:latin typeface="Calibri"/>
              </a:rPr>
              <a:t>✕  Polling Model (Redis)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99232"/>
            <a:ext cx="516636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✕  Payload duplication across services consumes bandwidth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516636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✕  Redis memory: M(t) = Σᵢ payload_i → Unbounded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33087"/>
            <a:ext cx="516636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✕  Latency spikes significantly under load pressure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00016"/>
            <a:ext cx="516636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✕  Memory pressure directly causes compute degradation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450592"/>
            <a:ext cx="5577840" cy="30358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450592"/>
            <a:ext cx="5577840" cy="530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523744"/>
            <a:ext cx="525780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✓  Shared Storage (S3)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99232"/>
            <a:ext cx="53035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✓  Single write to S3 per book regardless of fan-out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53035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✓  No duplication: M = O(1) per message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33087"/>
            <a:ext cx="53035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✓  Services remain completely stateless &amp; lightweight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00016"/>
            <a:ext cx="53035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✓  Δlatency ≈ 0 under volume increase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596128"/>
            <a:ext cx="10908792" cy="713232"/>
          </a:xfrm>
          <a:prstGeom prst="rect">
            <a:avLst/>
          </a:prstGeom>
          <a:solidFill>
            <a:srgbClr val="2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596128"/>
            <a:ext cx="73152" cy="7132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632704"/>
            <a:ext cx="73152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00" b="1" i="0">
                <a:solidFill>
                  <a:srgbClr val="EC0000"/>
                </a:solidFill>
                <a:latin typeface="Consolas"/>
              </a:rPr>
              <a:t>CRITICAL ARCHITECTURAL CONSTRAINT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88736"/>
            <a:ext cx="1051560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40 GB/min cannot be Redis-buffered without catastrophic memory growth and instability.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Consolas"/>
              </a:rPr>
              <a:t>SANTANDER // XENA MVP2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onsolas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78040" y="0"/>
            <a:ext cx="5020056" cy="649224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9436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1" i="0">
                <a:solidFill>
                  <a:srgbClr val="EC0000"/>
                </a:solidFill>
                <a:latin typeface="Consolas"/>
              </a:rPr>
              <a:t>Strategic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6400800" cy="9601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b="0" sz="4000">
                <a:solidFill>
                  <a:srgbClr val="FFFFFF"/>
                </a:solidFill>
                <a:latin typeface="Calibri"/>
              </a:rPr>
              <a:t>Why This </a:t>
            </a:r>
            <a:r>
              <a:rPr b="1" sz="4000">
                <a:solidFill>
                  <a:srgbClr val="EC0000"/>
                </a:solidFill>
                <a:latin typeface="Calibri"/>
              </a:rPr>
              <a:t>Strengthens</a:t>
            </a:r>
            <a:r>
              <a:rPr b="0" sz="4000">
                <a:solidFill>
                  <a:srgbClr val="FFFFFF"/>
                </a:solidFill>
                <a:latin typeface="Calibri"/>
              </a:rPr>
              <a:t>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solidFill>
            <a:srgbClr val="40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000" b="0" i="0">
                <a:solidFill>
                  <a:srgbClr val="EC0000"/>
                </a:solidFill>
                <a:latin typeface="Calibri"/>
              </a:rPr>
              <a:t>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20240"/>
            <a:ext cx="548640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CPU-Bound, Not Integration-Bound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267712"/>
            <a:ext cx="5486400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GRID focuses purely on complex compute tasks without the overhead of transport management.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44368"/>
            <a:ext cx="548640" cy="548640"/>
          </a:xfrm>
          <a:prstGeom prst="rect">
            <a:avLst/>
          </a:prstGeom>
          <a:solidFill>
            <a:srgbClr val="40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44368"/>
            <a:ext cx="548640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000" b="0" i="0">
                <a:solidFill>
                  <a:srgbClr val="EC0000"/>
                </a:solidFill>
                <a:latin typeface="Calibri"/>
              </a:rPr>
              <a:t>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44368"/>
            <a:ext cx="548640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Zero Polling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91840"/>
            <a:ext cx="5486400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Eliminates wasted CPU cycles checking empty queues; resources are used only when data arrives.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68496"/>
            <a:ext cx="548640" cy="548640"/>
          </a:xfrm>
          <a:prstGeom prst="rect">
            <a:avLst/>
          </a:prstGeom>
          <a:solidFill>
            <a:srgbClr val="40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68496"/>
            <a:ext cx="548640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000" b="0" i="0">
                <a:solidFill>
                  <a:srgbClr val="EC0000"/>
                </a:solidFill>
                <a:latin typeface="Calibri"/>
              </a:rPr>
              <a:t>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968496"/>
            <a:ext cx="548640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Clean Compute 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315968"/>
            <a:ext cx="5486400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Architecture enforces strict separation between orchestration, storage, and calculation.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92624"/>
            <a:ext cx="548640" cy="548640"/>
          </a:xfrm>
          <a:prstGeom prst="rect">
            <a:avLst/>
          </a:prstGeom>
          <a:solidFill>
            <a:srgbClr val="40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92624"/>
            <a:ext cx="548640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000" b="0" i="0">
                <a:solidFill>
                  <a:srgbClr val="EC0000"/>
                </a:solidFill>
                <a:latin typeface="Calibri"/>
              </a:rP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992624"/>
            <a:ext cx="548640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HTC Positioning Enabled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340096"/>
            <a:ext cx="5486400" cy="5303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Infrastructure is now ready for High-Throughput Computing at scale for future quant demands.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502920"/>
            <a:ext cx="1463040" cy="1463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800" b="0" i="1">
                <a:solidFill>
                  <a:srgbClr val="400A0A"/>
                </a:solidFill>
                <a:latin typeface="Georgia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572768"/>
            <a:ext cx="4572000" cy="19202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600" b="0" i="1">
                <a:solidFill>
                  <a:srgbClr val="FFFFFF"/>
                </a:solidFill>
                <a:latin typeface="Calibri"/>
              </a:rPr>
              <a:t>Integration should not limit
compute scalability.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547872"/>
            <a:ext cx="566928" cy="50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639312"/>
            <a:ext cx="411480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200" b="1" i="0">
                <a:solidFill>
                  <a:srgbClr val="EC0000"/>
                </a:solidFill>
                <a:latin typeface="Consolas"/>
              </a:rPr>
              <a:t>Core Principle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XENA MVP2 · GRID INTEGRATION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6510528"/>
            <a:ext cx="210312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126480"/>
            <a:ext cx="7315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onsola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