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21"/>
    <p:sldId id="271" r:id="rId22"/>
    <p:sldId id="272" r:id="rId23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28600"/>
          </a:xfrm>
          <a:prstGeom prst="rect">
            <a:avLst/>
          </a:prstGeom>
          <a:solidFill>
            <a:srgbClr val="A50014"/>
          </a:solidFill>
          <a:ln w="12700">
            <a:solidFill>
              <a:srgbClr val="A500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XENA LaaS</a:t>
            </a:r>
            <a:endParaRPr lang="en-US" sz="58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029200" cy="54864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03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as a Service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Standardizing Compute Execution Across GRID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2468880" cy="1097280"/>
          </a:xfrm>
          <a:prstGeom prst="rect">
            <a:avLst/>
          </a:prstGeom>
          <a:solidFill>
            <a:srgbClr val="1A0A0B"/>
          </a:solidFill>
          <a:ln w="12700">
            <a:solidFill>
              <a:srgbClr val="A5001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6576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83280" y="3566160"/>
            <a:ext cx="2468880" cy="1097280"/>
          </a:xfrm>
          <a:prstGeom prst="rect">
            <a:avLst/>
          </a:prstGeom>
          <a:solidFill>
            <a:srgbClr val="1A0A0B"/>
          </a:solidFill>
          <a:ln w="12700">
            <a:solidFill>
              <a:srgbClr val="A5001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36576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31920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Control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17920" y="3566160"/>
            <a:ext cx="2468880" cy="1097280"/>
          </a:xfrm>
          <a:prstGeom prst="rect">
            <a:avLst/>
          </a:prstGeom>
          <a:solidFill>
            <a:srgbClr val="1A0A0B"/>
          </a:solidFill>
          <a:ln w="12700">
            <a:solidFill>
              <a:srgbClr val="A5001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6576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66560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Execution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A50014"/>
          </a:solidFill>
          <a:ln w="12700">
            <a:solidFill>
              <a:srgbClr val="A5001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Current State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566928"/>
          </a:xfrm>
          <a:prstGeom prst="rect">
            <a:avLst/>
          </a:prstGeom>
          <a:solidFill>
            <a:srgbClr val="180508"/>
          </a:solidFill>
          <a:ln w="12700">
            <a:solidFill>
              <a:srgbClr val="A5001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00784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6733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integrations require custom orchestration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295144"/>
            <a:ext cx="5486400" cy="566928"/>
          </a:xfrm>
          <a:prstGeom prst="rect">
            <a:avLst/>
          </a:prstGeom>
          <a:solidFill>
            <a:srgbClr val="180508"/>
          </a:solidFill>
          <a:ln w="12700">
            <a:solidFill>
              <a:srgbClr val="A5001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9572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36829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input formats and payload structures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2990088"/>
            <a:ext cx="5486400" cy="566928"/>
          </a:xfrm>
          <a:prstGeom prst="rect">
            <a:avLst/>
          </a:prstGeom>
          <a:solidFill>
            <a:srgbClr val="180508"/>
          </a:solidFill>
          <a:ln w="12700">
            <a:solidFill>
              <a:srgbClr val="A50014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90672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3063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 coupling between services and compute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48640" y="3685032"/>
            <a:ext cx="5486400" cy="566928"/>
          </a:xfrm>
          <a:prstGeom prst="rect">
            <a:avLst/>
          </a:prstGeom>
          <a:solidFill>
            <a:srgbClr val="180508"/>
          </a:solidFill>
          <a:ln w="12700">
            <a:solidFill>
              <a:srgbClr val="A50014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85616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37581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overhead — containers, routing logic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400800" y="1371600"/>
            <a:ext cx="2468880" cy="3200400"/>
          </a:xfrm>
          <a:prstGeom prst="rect">
            <a:avLst/>
          </a:prstGeom>
          <a:solidFill>
            <a:srgbClr val="A50014"/>
          </a:solidFill>
          <a:ln w="19050">
            <a:solidFill>
              <a:srgbClr val="EC0000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49224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49224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onboarding of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capabilities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675120" y="2697480"/>
            <a:ext cx="1920240" cy="36576"/>
          </a:xfrm>
          <a:prstGeom prst="rect">
            <a:avLst/>
          </a:prstGeom>
          <a:solidFill>
            <a:srgbClr val="A50014"/>
          </a:solidFill>
          <a:ln w="12700">
            <a:solidFill>
              <a:srgbClr val="3A0A0D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492240" y="2788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models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675120" y="3566160"/>
            <a:ext cx="1920240" cy="36576"/>
          </a:xfrm>
          <a:prstGeom prst="rect">
            <a:avLst/>
          </a:prstGeom>
          <a:solidFill>
            <a:srgbClr val="A50014"/>
          </a:solidFill>
          <a:ln w="12700">
            <a:solidFill>
              <a:srgbClr val="3A0A0D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492240" y="3657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cost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A50014"/>
          </a:solidFill>
          <a:ln w="12700">
            <a:solidFill>
              <a:srgbClr val="A5001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Integrations → Platform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06040" cy="2103120"/>
          </a:xfrm>
          <a:prstGeom prst="rect">
            <a:avLst/>
          </a:prstGeom>
          <a:solidFill>
            <a:srgbClr val="180508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500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23317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926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Standard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Model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83280" y="1737360"/>
            <a:ext cx="2606040" cy="2103120"/>
          </a:xfrm>
          <a:prstGeom prst="rect">
            <a:avLst/>
          </a:prstGeom>
          <a:solidFill>
            <a:srgbClr val="A50014"/>
          </a:solidFill>
          <a:ln w="25400">
            <a:solidFill>
              <a:srgbClr val="EC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83280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9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3317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926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Contract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217920" y="1737360"/>
            <a:ext cx="2606040" cy="2103120"/>
          </a:xfrm>
          <a:prstGeom prst="rect">
            <a:avLst/>
          </a:prstGeom>
          <a:solidFill>
            <a:srgbClr val="180508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217920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500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33172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2926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Service-Specific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4864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Libraries become plug-and-play capabilities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A50014"/>
          </a:solidFill>
          <a:ln w="12700">
            <a:solidFill>
              <a:srgbClr val="A5001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→ After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57600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657600" cy="530352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4884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Service-driven execution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70632"/>
            <a:ext cx="3657600" cy="530352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77063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payload per use case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92424"/>
            <a:ext cx="3657600" cy="530352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392424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ingestion paths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14216"/>
            <a:ext cx="3657600" cy="530352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014216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 coupling</a:t>
            </a:r>
            <a:endParaRPr lang="en-US" sz="13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2468880"/>
            <a:ext cx="457200" cy="4572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937760" y="1600200"/>
            <a:ext cx="3886200" cy="457200"/>
          </a:xfrm>
          <a:prstGeom prst="rect">
            <a:avLst/>
          </a:prstGeom>
          <a:solidFill>
            <a:srgbClr val="A50014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0" y="16002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XENA LaaS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937760" y="2148840"/>
            <a:ext cx="3886200" cy="530352"/>
          </a:xfrm>
          <a:prstGeom prst="rect">
            <a:avLst/>
          </a:prstGeom>
          <a:solidFill>
            <a:srgbClr val="1A0A0B"/>
          </a:solidFill>
          <a:ln w="19050">
            <a:solidFill>
              <a:srgbClr val="A5001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74920" y="2148840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Contract-driven execution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937760" y="2770632"/>
            <a:ext cx="3886200" cy="530352"/>
          </a:xfrm>
          <a:prstGeom prst="rect">
            <a:avLst/>
          </a:prstGeom>
          <a:solidFill>
            <a:srgbClr val="1A0A0B"/>
          </a:solidFill>
          <a:ln w="19050">
            <a:solidFill>
              <a:srgbClr val="A5001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74920" y="2770632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input model (Parquet + metadata)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937760" y="3392424"/>
            <a:ext cx="3886200" cy="530352"/>
          </a:xfrm>
          <a:prstGeom prst="rect">
            <a:avLst/>
          </a:prstGeom>
          <a:solidFill>
            <a:srgbClr val="1A0A0B"/>
          </a:solidFill>
          <a:ln w="19050">
            <a:solidFill>
              <a:srgbClr val="A5001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74920" y="3392424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orchestration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937760" y="4014216"/>
            <a:ext cx="3886200" cy="530352"/>
          </a:xfrm>
          <a:prstGeom prst="rect">
            <a:avLst/>
          </a:prstGeom>
          <a:solidFill>
            <a:srgbClr val="1A0A0B"/>
          </a:solidFill>
          <a:ln w="19050">
            <a:solidFill>
              <a:srgbClr val="A5001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74920" y="4014216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Decoupled compute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A50014"/>
          </a:solidFill>
          <a:ln w="12700">
            <a:solidFill>
              <a:srgbClr val="A5001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Three-Layer Model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8046720" cy="868680"/>
          </a:xfrm>
          <a:prstGeom prst="rect">
            <a:avLst/>
          </a:prstGeom>
          <a:solidFill>
            <a:srgbClr val="140305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411480" cy="86868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745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45920" y="2084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XENA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80560" y="18288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via Lambda + SQS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651760"/>
            <a:ext cx="8046720" cy="868680"/>
          </a:xfrm>
          <a:prstGeom prst="rect">
            <a:avLst/>
          </a:prstGeom>
          <a:solidFill>
            <a:srgbClr val="14030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2651760"/>
            <a:ext cx="411480" cy="868680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65176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88036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Plane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645920" y="30906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480560" y="2834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storage contract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48640" y="3657600"/>
            <a:ext cx="8046720" cy="868680"/>
          </a:xfrm>
          <a:prstGeom prst="rect">
            <a:avLst/>
          </a:prstGeom>
          <a:solidFill>
            <a:srgbClr val="14030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48640" y="3657600"/>
            <a:ext cx="411480" cy="86868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48640" y="365760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886200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64592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Plane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1645920" y="40965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/ XDE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480560" y="3840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of target libraries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scaling · Clear responsibilities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A50014"/>
          </a:solidFill>
          <a:ln w="12700">
            <a:solidFill>
              <a:srgbClr val="A5001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Innovation — Single Self-Contained Input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291840" cy="914400"/>
          </a:xfrm>
          <a:prstGeom prst="rect">
            <a:avLst/>
          </a:prstGeom>
          <a:solidFill>
            <a:srgbClr val="A50014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job is 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Parquet file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3291840" cy="530352"/>
          </a:xfrm>
          <a:prstGeom prst="rect">
            <a:avLst/>
          </a:prstGeom>
          <a:solidFill>
            <a:srgbClr val="180508"/>
          </a:solidFill>
          <a:ln w="12700">
            <a:solidFill>
              <a:srgbClr val="3A0A0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798064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27797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→ structured rows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319272"/>
            <a:ext cx="3291840" cy="530352"/>
          </a:xfrm>
          <a:prstGeom prst="rect">
            <a:avLst/>
          </a:prstGeom>
          <a:solidFill>
            <a:srgbClr val="180508"/>
          </a:solidFill>
          <a:ln w="12700">
            <a:solidFill>
              <a:srgbClr val="3A0A0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419856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3401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→ metadata (footer)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069080" y="1463040"/>
            <a:ext cx="4754880" cy="3017520"/>
          </a:xfrm>
          <a:prstGeom prst="rect">
            <a:avLst/>
          </a:prstGeom>
          <a:solidFill>
            <a:srgbClr val="0D0D0D"/>
          </a:solidFill>
          <a:ln w="12700">
            <a:solidFill>
              <a:srgbClr val="A5001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069080" y="1463040"/>
            <a:ext cx="4754880" cy="365760"/>
          </a:xfrm>
          <a:prstGeom prst="rect">
            <a:avLst/>
          </a:prstGeom>
          <a:solidFill>
            <a:srgbClr val="A50014"/>
          </a:solidFill>
          <a:ln w="12700">
            <a:solidFill>
              <a:srgbClr val="A5001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206240" y="14813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contract.json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206240" y="1920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206240" y="2240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"jobId": "job-123",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206240" y="25603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"targetLibrary": "risk-factor",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206240" y="28803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"targetVersion": "1.2",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206240" y="32004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"clientPayload": "{...}"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206240" y="3520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48640" y="4343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No branching logic in XENA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4864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Fully generic across libraries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A50014"/>
          </a:solidFill>
          <a:ln w="12700">
            <a:solidFill>
              <a:srgbClr val="A5001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End-to-End Flow + Payload Enrichment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828800" cy="685800"/>
          </a:xfrm>
          <a:prstGeom prst="rect">
            <a:avLst/>
          </a:prstGeom>
          <a:solidFill>
            <a:srgbClr val="A50014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320040" cy="6858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58191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uploaded to S3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508760"/>
            <a:ext cx="1828800" cy="685800"/>
          </a:xfrm>
          <a:prstGeom prst="rect">
            <a:avLst/>
          </a:prstGeom>
          <a:solidFill>
            <a:srgbClr val="180508"/>
          </a:solidFill>
          <a:ln w="12700">
            <a:solidFill>
              <a:srgbClr val="3A0A0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508760"/>
            <a:ext cx="320040" cy="6858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50876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71800" y="158191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→ SQS → XENALoader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508760"/>
            <a:ext cx="1828800" cy="685800"/>
          </a:xfrm>
          <a:prstGeom prst="rect">
            <a:avLst/>
          </a:prstGeom>
          <a:solidFill>
            <a:srgbClr val="180508"/>
          </a:solidFill>
          <a:ln w="12700">
            <a:solidFill>
              <a:srgbClr val="3A0A0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508760"/>
            <a:ext cx="320040" cy="6858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50876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158191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XENALoader: reads, validates, enriches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1508760"/>
            <a:ext cx="1828800" cy="685800"/>
          </a:xfrm>
          <a:prstGeom prst="rect">
            <a:avLst/>
          </a:prstGeom>
          <a:solidFill>
            <a:srgbClr val="180508"/>
          </a:solidFill>
          <a:ln w="12700">
            <a:solidFill>
              <a:srgbClr val="3A0A0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1508760"/>
            <a:ext cx="320040" cy="6858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50876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95160" y="158191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GRIDConnector invokes GRID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514600"/>
            <a:ext cx="1828800" cy="685800"/>
          </a:xfrm>
          <a:prstGeom prst="rect">
            <a:avLst/>
          </a:prstGeom>
          <a:solidFill>
            <a:srgbClr val="180508"/>
          </a:solidFill>
          <a:ln w="12700">
            <a:solidFill>
              <a:srgbClr val="3A0A0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2514600"/>
            <a:ext cx="320040" cy="6858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51460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258775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executes library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0" y="2514600"/>
            <a:ext cx="1828800" cy="685800"/>
          </a:xfrm>
          <a:prstGeom prst="rect">
            <a:avLst/>
          </a:prstGeom>
          <a:solidFill>
            <a:srgbClr val="180508"/>
          </a:solidFill>
          <a:ln w="12700">
            <a:solidFill>
              <a:srgbClr val="3A0A0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0" y="2514600"/>
            <a:ext cx="320040" cy="6858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251460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971800" y="258775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written to S3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2514600"/>
            <a:ext cx="1828800" cy="685800"/>
          </a:xfrm>
          <a:prstGeom prst="rect">
            <a:avLst/>
          </a:prstGeom>
          <a:solidFill>
            <a:srgbClr val="A50014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2514600"/>
            <a:ext cx="320040" cy="6858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251460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83480" y="258775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manifest.json signals completion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1508760"/>
            <a:ext cx="4114800" cy="1920240"/>
          </a:xfrm>
          <a:prstGeom prst="rect">
            <a:avLst/>
          </a:prstGeom>
          <a:solidFill>
            <a:srgbClr val="140305"/>
          </a:solidFill>
          <a:ln w="19050">
            <a:solidFill>
              <a:srgbClr val="A5001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ENRICHMENT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20116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Input location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46320" y="23317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Output paths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46320" y="26517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Tracking metadata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46320" y="29718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Control flags (reconciliation, retries)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XENA = contract transformer, not business logic processor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A50014"/>
          </a:solidFill>
          <a:ln w="12700">
            <a:solidFill>
              <a:srgbClr val="A5001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STRUCTURE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Generic Execution Payload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029200" cy="3246120"/>
          </a:xfrm>
          <a:prstGeom prst="rect">
            <a:avLst/>
          </a:prstGeom>
          <a:solidFill>
            <a:srgbClr val="0D0D0D"/>
          </a:solidFill>
          <a:ln w="12700">
            <a:solidFill>
              <a:srgbClr val="A500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5029200" cy="347472"/>
          </a:xfrm>
          <a:prstGeom prst="rect">
            <a:avLst/>
          </a:prstGeom>
          <a:solidFill>
            <a:srgbClr val="A50014"/>
          </a:solidFill>
          <a:ln w="12700">
            <a:solidFill>
              <a:srgbClr val="A500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8132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execution-payload.json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928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671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"jobId": "job-123",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44144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"targetLibrary": "risk-factor",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7157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"resolvedVersion": "1.2",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9900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"inputFile": "s3://xena-input/...",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2644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"resultsPath": "s3://xena-output/...",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5387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"errorPath": "s3://xena-error/...",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81304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"control": { "reconciliation": false },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0873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F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"clientPayload": { "...": "..." 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3616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1600200"/>
            <a:ext cx="2834640" cy="868680"/>
          </a:xfrm>
          <a:prstGeom prst="rect">
            <a:avLst/>
          </a:prstGeom>
          <a:solidFill>
            <a:srgbClr val="A50014"/>
          </a:solidFill>
          <a:ln w="25400">
            <a:solidFill>
              <a:srgbClr val="EC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691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structure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80760" y="2029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all libraries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2651760"/>
            <a:ext cx="2834640" cy="868680"/>
          </a:xfrm>
          <a:prstGeom prst="rect">
            <a:avLst/>
          </a:prstGeom>
          <a:solidFill>
            <a:srgbClr val="180508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27432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extensible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80760" y="30815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code changes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0" y="3703320"/>
            <a:ext cx="2834640" cy="868680"/>
          </a:xfrm>
          <a:prstGeom prst="rect">
            <a:avLst/>
          </a:prstGeom>
          <a:solidFill>
            <a:srgbClr val="180508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3794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branching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80760" y="41330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orchestration logic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A50014"/>
          </a:solidFill>
          <a:ln w="12700">
            <a:solidFill>
              <a:srgbClr val="A5001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S3 Bucket Architecture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51760" cy="2651760"/>
          </a:xfrm>
          <a:prstGeom prst="rect">
            <a:avLst/>
          </a:prstGeom>
          <a:solidFill>
            <a:srgbClr val="0D0D0D"/>
          </a:solidFill>
          <a:ln w="19050">
            <a:solidFill>
              <a:srgbClr val="0066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2651760" cy="41148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BUCKET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21031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606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s3://xena-input/{library}/{jobId}/input.parquet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3200400"/>
            <a:ext cx="246888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32186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AF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input.parquet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83280" y="1600200"/>
            <a:ext cx="2651760" cy="2651760"/>
          </a:xfrm>
          <a:prstGeom prst="rect">
            <a:avLst/>
          </a:prstGeom>
          <a:solidFill>
            <a:srgbClr val="0D0D0D"/>
          </a:solidFill>
          <a:ln w="19050">
            <a:solidFill>
              <a:srgbClr val="EC00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3280" y="1600200"/>
            <a:ext cx="2651760" cy="41148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83280" y="1600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BUCKET</a:t>
            </a:r>
            <a:endParaRPr lang="en-US" sz="11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10312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74720" y="2606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s3://xena-output/{library}/{jobId}/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474720" y="3200400"/>
            <a:ext cx="246888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520440" y="32186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_progress.json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474720" y="3520440"/>
            <a:ext cx="246888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520440" y="35387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manifest.json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474720" y="3840480"/>
            <a:ext cx="246888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520440" y="38587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results...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217920" y="1600200"/>
            <a:ext cx="2651760" cy="2651760"/>
          </a:xfrm>
          <a:prstGeom prst="rect">
            <a:avLst/>
          </a:prstGeom>
          <a:solidFill>
            <a:srgbClr val="0D0D0D"/>
          </a:solidFill>
          <a:ln w="19050">
            <a:solidFill>
              <a:srgbClr val="CC660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217920" y="1600200"/>
            <a:ext cx="2651760" cy="411480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17920" y="1600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BUCKET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103120"/>
            <a:ext cx="411480" cy="4114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309360" y="2606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s3://xena-error/{library}/{jobId}/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6309360" y="3200400"/>
            <a:ext cx="246888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355080" y="32186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AF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error-details.json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548640" y="4572000"/>
            <a:ext cx="2651760" cy="292608"/>
          </a:xfrm>
          <a:prstGeom prst="rect">
            <a:avLst/>
          </a:prstGeom>
          <a:solidFill>
            <a:srgbClr val="A50014"/>
          </a:solidFill>
          <a:ln w="12700">
            <a:solidFill>
              <a:srgbClr val="A50014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48640" y="4572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separation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83280" y="4572000"/>
            <a:ext cx="2651760" cy="292608"/>
          </a:xfrm>
          <a:prstGeom prst="rect">
            <a:avLst/>
          </a:prstGeom>
          <a:solidFill>
            <a:srgbClr val="A50014"/>
          </a:solidFill>
          <a:ln w="12700">
            <a:solidFill>
              <a:srgbClr val="A50014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3383280" y="4572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structure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217920" y="4572000"/>
            <a:ext cx="2651760" cy="292608"/>
          </a:xfrm>
          <a:prstGeom prst="rect">
            <a:avLst/>
          </a:prstGeom>
          <a:solidFill>
            <a:srgbClr val="A50014"/>
          </a:solidFill>
          <a:ln w="12700">
            <a:solidFill>
              <a:srgbClr val="A50014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217920" y="4572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event filtering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A50014"/>
          </a:solidFill>
          <a:ln w="12700">
            <a:solidFill>
              <a:srgbClr val="A5001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Multi-Layer Monitoring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749040" cy="1463040"/>
          </a:xfrm>
          <a:prstGeom prst="rect">
            <a:avLst/>
          </a:prstGeom>
          <a:solidFill>
            <a:srgbClr val="140305"/>
          </a:solidFill>
          <a:ln w="12700">
            <a:solidFill>
              <a:srgbClr val="A5001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7335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6733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Metrics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21488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· SQS queues · Execution status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554480"/>
            <a:ext cx="4114800" cy="1463040"/>
          </a:xfrm>
          <a:prstGeom prst="rect">
            <a:avLst/>
          </a:prstGeom>
          <a:solidFill>
            <a:srgbClr val="140305"/>
          </a:solidFill>
          <a:ln w="12700">
            <a:solidFill>
              <a:srgbClr val="A5001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67335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16733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Analytics (GETAFE)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800600" y="21488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Kafka-based event tracking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Elasticsearch + Kibana dashboards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200400"/>
            <a:ext cx="8046720" cy="1188720"/>
          </a:xfrm>
          <a:prstGeom prst="rect">
            <a:avLst/>
          </a:prstGeom>
          <a:solidFill>
            <a:srgbClr val="0D0D0D"/>
          </a:solidFill>
          <a:ln w="12700">
            <a:solidFill>
              <a:srgbClr val="A5001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85800" y="3291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— Small structured events, not large data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85800" y="3639312"/>
            <a:ext cx="2286000" cy="594360"/>
          </a:xfrm>
          <a:prstGeom prst="rect">
            <a:avLst/>
          </a:prstGeom>
          <a:solidFill>
            <a:srgbClr val="A50014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85800" y="363931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Started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246120" y="3639312"/>
            <a:ext cx="2286000" cy="594360"/>
          </a:xfrm>
          <a:prstGeom prst="rect">
            <a:avLst/>
          </a:prstGeom>
          <a:solidFill>
            <a:srgbClr val="A50014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246120" y="363931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_progress.json 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progress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806440" y="3639312"/>
            <a:ext cx="2286000" cy="594360"/>
          </a:xfrm>
          <a:prstGeom prst="rect">
            <a:avLst/>
          </a:prstGeom>
          <a:solidFill>
            <a:srgbClr val="A50014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06440" y="363931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manifest.json 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signal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visibility with minimal overhead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A50014"/>
          </a:solidFill>
          <a:ln w="12700">
            <a:solidFill>
              <a:srgbClr val="A50014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GOVERNANCE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Secure by Design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749040" cy="1143000"/>
          </a:xfrm>
          <a:prstGeom prst="rect">
            <a:avLst/>
          </a:prstGeom>
          <a:solidFill>
            <a:srgbClr val="140305"/>
          </a:solidFill>
          <a:ln w="12700">
            <a:solidFill>
              <a:srgbClr val="A500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73152" cy="11430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7099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IAM-Based Access Control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210312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Fine-grained identity policies enforced at every layer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600200"/>
            <a:ext cx="3749040" cy="1143000"/>
          </a:xfrm>
          <a:prstGeom prst="rect">
            <a:avLst/>
          </a:prstGeom>
          <a:solidFill>
            <a:srgbClr val="140305"/>
          </a:solidFill>
          <a:ln w="12700">
            <a:solidFill>
              <a:srgbClr val="A5001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1600200"/>
            <a:ext cx="73152" cy="11430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73736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7099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Encryption (KMS)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486400" y="210312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 encrypted at rest using AWS Key Management Service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2971800"/>
            <a:ext cx="3749040" cy="1143000"/>
          </a:xfrm>
          <a:prstGeom prst="rect">
            <a:avLst/>
          </a:prstGeom>
          <a:solidFill>
            <a:srgbClr val="140305"/>
          </a:solidFill>
          <a:ln w="12700">
            <a:solidFill>
              <a:srgbClr val="A5001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2971800"/>
            <a:ext cx="73152" cy="11430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0896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0815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Cross-Account Access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371600" y="347472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Controlled, audited cross-account resource access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663440" y="2971800"/>
            <a:ext cx="3749040" cy="1143000"/>
          </a:xfrm>
          <a:prstGeom prst="rect">
            <a:avLst/>
          </a:prstGeom>
          <a:solidFill>
            <a:srgbClr val="140305"/>
          </a:solidFill>
          <a:ln w="12700">
            <a:solidFill>
              <a:srgbClr val="A5001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663440" y="2971800"/>
            <a:ext cx="73152" cy="11430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10896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0815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Execution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486400" y="347472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 and reproducibility for every job run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A50014"/>
          </a:solidFill>
          <a:ln w="12700">
            <a:solidFill>
              <a:srgbClr val="A50014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This Enables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840480" cy="1051560"/>
          </a:xfrm>
          <a:prstGeom prst="rect">
            <a:avLst/>
          </a:prstGeom>
          <a:solidFill>
            <a:srgbClr val="140305"/>
          </a:solidFill>
          <a:ln w="12700">
            <a:solidFill>
              <a:srgbClr val="3A0A0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640080" cy="105156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745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6916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Onboarding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25880" y="20756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libraries integrated without new orchestration code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600200"/>
            <a:ext cx="3840480" cy="1051560"/>
          </a:xfrm>
          <a:prstGeom prst="rect">
            <a:avLst/>
          </a:prstGeom>
          <a:solidFill>
            <a:srgbClr val="140305"/>
          </a:solidFill>
          <a:ln w="12700">
            <a:solidFill>
              <a:srgbClr val="3A0A0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600200"/>
            <a:ext cx="640080" cy="105156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8745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6916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Complexity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532120" y="20756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execution model replaces fragmented integrations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2834640"/>
            <a:ext cx="3840480" cy="1051560"/>
          </a:xfrm>
          <a:prstGeom prst="rect">
            <a:avLst/>
          </a:prstGeom>
          <a:solidFill>
            <a:srgbClr val="140305"/>
          </a:solidFill>
          <a:ln w="12700">
            <a:solidFill>
              <a:srgbClr val="3A0A0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2834640"/>
            <a:ext cx="640080" cy="105156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1089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29260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Execution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325880" y="33101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model scales independently per component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754880" y="2834640"/>
            <a:ext cx="3840480" cy="1051560"/>
          </a:xfrm>
          <a:prstGeom prst="rect">
            <a:avLst/>
          </a:prstGeom>
          <a:solidFill>
            <a:srgbClr val="A50014"/>
          </a:solidFill>
          <a:ln w="25400">
            <a:solidFill>
              <a:srgbClr val="EC000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54880" y="2834640"/>
            <a:ext cx="640080" cy="105156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10896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2120" y="29260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Positioning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532120" y="33101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XENA becomes compute platform, not integration layer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4251960"/>
            <a:ext cx="8046720" cy="54864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48640" y="4251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XENA becomes a compute platform, not an integration layer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A50014"/>
          </a:solidFill>
          <a:ln w="12700">
            <a:solidFill>
              <a:srgbClr val="A50014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Comes Next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7772400" cy="73152"/>
          </a:xfrm>
          <a:prstGeom prst="rect">
            <a:avLst/>
          </a:prstGeom>
          <a:solidFill>
            <a:srgbClr val="A50014"/>
          </a:solidFill>
          <a:ln w="12700">
            <a:solidFill>
              <a:srgbClr val="A500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2258568"/>
            <a:ext cx="292608" cy="292608"/>
          </a:xfrm>
          <a:prstGeom prst="ellipse">
            <a:avLst/>
          </a:prstGeom>
          <a:solidFill>
            <a:srgbClr val="A50014"/>
          </a:solidFill>
          <a:ln w="25400">
            <a:solidFill>
              <a:srgbClr val="EC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697480"/>
            <a:ext cx="1828800" cy="1691640"/>
          </a:xfrm>
          <a:prstGeom prst="rect">
            <a:avLst/>
          </a:prstGeom>
          <a:solidFill>
            <a:srgbClr val="140305"/>
          </a:solidFill>
          <a:ln w="12700">
            <a:solidFill>
              <a:srgbClr val="3A0A0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3090672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3566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Registry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39136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Plug-and-play onboarding for all libraries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436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37560" y="2258568"/>
            <a:ext cx="292608" cy="292608"/>
          </a:xfrm>
          <a:prstGeom prst="ellipse">
            <a:avLst/>
          </a:prstGeom>
          <a:solidFill>
            <a:srgbClr val="A50014"/>
          </a:solidFill>
          <a:ln w="25400">
            <a:solidFill>
              <a:srgbClr val="EC00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06040" y="2697480"/>
            <a:ext cx="1828800" cy="1691640"/>
          </a:xfrm>
          <a:prstGeom prst="rect">
            <a:avLst/>
          </a:prstGeom>
          <a:solidFill>
            <a:srgbClr val="140305"/>
          </a:solidFill>
          <a:ln w="12700">
            <a:solidFill>
              <a:srgbClr val="3A0A0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0604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3090672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06040" y="3566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Evolution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697480" y="39136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contract evolution strategy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260604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349240" y="2258568"/>
            <a:ext cx="292608" cy="292608"/>
          </a:xfrm>
          <a:prstGeom prst="ellipse">
            <a:avLst/>
          </a:prstGeom>
          <a:solidFill>
            <a:srgbClr val="A50014"/>
          </a:solidFill>
          <a:ln w="25400">
            <a:solidFill>
              <a:srgbClr val="EC000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617720" y="2697480"/>
            <a:ext cx="1828800" cy="1691640"/>
          </a:xfrm>
          <a:prstGeom prst="rect">
            <a:avLst/>
          </a:prstGeom>
          <a:solidFill>
            <a:srgbClr val="140305"/>
          </a:solidFill>
          <a:ln w="12700">
            <a:solidFill>
              <a:srgbClr val="3A0A0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1772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3090672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617720" y="3566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Observability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709160" y="39136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events + SLA dashboards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461772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7360920" y="2258568"/>
            <a:ext cx="292608" cy="292608"/>
          </a:xfrm>
          <a:prstGeom prst="ellipse">
            <a:avLst/>
          </a:prstGeom>
          <a:solidFill>
            <a:srgbClr val="EC0000"/>
          </a:solidFill>
          <a:ln w="25400">
            <a:solidFill>
              <a:srgbClr val="EC000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629400" y="2697480"/>
            <a:ext cx="1828800" cy="1691640"/>
          </a:xfrm>
          <a:prstGeom prst="rect">
            <a:avLst/>
          </a:prstGeom>
          <a:solidFill>
            <a:srgbClr val="140305"/>
          </a:solidFill>
          <a:ln w="25400">
            <a:solidFill>
              <a:srgbClr val="EC000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62940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0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768" y="3090672"/>
            <a:ext cx="411480" cy="4114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629400" y="3566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Platform Mode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6720840" y="39136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library, any data, any scale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662940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A50014"/>
          </a:solidFill>
          <a:ln w="12700">
            <a:solidFill>
              <a:srgbClr val="A50014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73152" cy="82296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+ shared storage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foundation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2057400"/>
            <a:ext cx="73152" cy="82296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574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Libraries become plug-and-play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units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3154680"/>
            <a:ext cx="73152" cy="82296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1546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XENA becomes a platform,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project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160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F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45720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"Any library,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any data,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any scale."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846320" y="32004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executed through a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FF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platform.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A50014"/>
          </a:solidFill>
          <a:ln w="12700">
            <a:solidFill>
              <a:srgbClr val="A500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62686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"We're not integrating systems — we're standardizing how computation happens across the organization."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C0000"/>
                </a:solidFill>
                <a:latin typeface="Arial"/>
              </a:rPr>
              <a:t>FUNCTIONAL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 Black"/>
              </a:rPr>
              <a:t>Functional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CCCCCC"/>
                </a:solidFill>
                <a:latin typeface="Arial"/>
              </a:rPr>
              <a:t>Three-plane model — Control · Data · Compute</a:t>
            </a:r>
          </a:p>
        </p:txBody>
      </p:sp>
      <p:pic>
        <p:nvPicPr>
          <p:cNvPr id="7" name="Picture 6" descr="func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71600"/>
            <a:ext cx="8723376" cy="3611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A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C0000"/>
                </a:solidFill>
                <a:latin typeface="Arial"/>
              </a:rPr>
              <a:t>TECHNICAL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 Black"/>
              </a:rPr>
              <a:t>Technical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CCCCCC"/>
                </a:solidFill>
                <a:latin typeface="Arial"/>
              </a:rPr>
              <a:t>Lambda · SQS · S3 · IAM · KMS · GRID · GETAFE</a:t>
            </a:r>
          </a:p>
        </p:txBody>
      </p:sp>
      <p:pic>
        <p:nvPicPr>
          <p:cNvPr id="7" name="Picture 6" descr="techn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71600"/>
            <a:ext cx="8723376" cy="3611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A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C0000"/>
                </a:solidFill>
                <a:latin typeface="Arial"/>
              </a:rPr>
              <a:t>COMPONENT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 Black"/>
              </a:rPr>
              <a:t>Component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CCCCCC"/>
                </a:solidFill>
                <a:latin typeface="Arial"/>
              </a:rPr>
              <a:t>Internal modules · Contract model · Interfaces</a:t>
            </a:r>
          </a:p>
        </p:txBody>
      </p:sp>
      <p:pic>
        <p:nvPicPr>
          <p:cNvPr id="7" name="Picture 6" descr="compo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71600"/>
            <a:ext cx="8723376" cy="3611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A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XENA LaaS — Library as a Service</dc:title>
  <dc:subject>PptxGenJS Presentation</dc:subject>
  <dc:creator>XENA Platform Team</dc:creator>
  <cp:lastModifiedBy>XENA Platform Team</cp:lastModifiedBy>
  <cp:revision>1</cp:revision>
  <dcterms:created xsi:type="dcterms:W3CDTF">2026-04-23T22:11:18Z</dcterms:created>
  <dcterms:modified xsi:type="dcterms:W3CDTF">2026-04-23T22:11:18Z</dcterms:modified>
</cp:coreProperties>
</file>