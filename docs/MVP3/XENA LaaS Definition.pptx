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20000"/>
          </a:solidFill>
          <a:ln w="12700">
            <a:solidFill>
              <a:srgbClr val="12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XENA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11480" y="14173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LaaS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874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as a Service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2377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Scalable, Event-Driven Compute Platform for GRID Integration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3063240"/>
            <a:ext cx="2651760" cy="822960"/>
          </a:xfrm>
          <a:prstGeom prst="rect">
            <a:avLst/>
          </a:prstGeom>
          <a:solidFill>
            <a:srgbClr val="2A2A2A"/>
          </a:solidFill>
          <a:ln w="19050">
            <a:solidFill>
              <a:srgbClr val="E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063240"/>
            <a:ext cx="2651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100% Serverless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Control Plane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3063240"/>
            <a:ext cx="2651760" cy="822960"/>
          </a:xfrm>
          <a:prstGeom prst="rect">
            <a:avLst/>
          </a:prstGeom>
          <a:solidFill>
            <a:srgbClr val="2A2A2A"/>
          </a:solidFill>
          <a:ln w="19050">
            <a:solidFill>
              <a:srgbClr val="E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063240"/>
            <a:ext cx="2651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Shared Storage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Data Contract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3063240"/>
            <a:ext cx="2651760" cy="822960"/>
          </a:xfrm>
          <a:prstGeom prst="rect">
            <a:avLst/>
          </a:prstGeom>
          <a:solidFill>
            <a:srgbClr val="2A2A2A"/>
          </a:solidFill>
          <a:ln w="19050">
            <a:solidFill>
              <a:srgbClr val="E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3063240"/>
            <a:ext cx="2651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High-Throughput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Compute Integration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XENA Platform Team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&amp; Evolution — From MVP to Platform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2860"/>
          </a:xfrm>
          <a:prstGeom prst="rect">
            <a:avLst/>
          </a:prstGeom>
          <a:solidFill>
            <a:srgbClr val="330000"/>
          </a:solidFill>
          <a:ln w="12700">
            <a:solidFill>
              <a:srgbClr val="33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3474720"/>
          </a:xfrm>
          <a:prstGeom prst="rect">
            <a:avLst/>
          </a:prstGeom>
          <a:solidFill>
            <a:srgbClr val="3A1010"/>
          </a:solidFill>
          <a:ln w="19050">
            <a:solidFill>
              <a:srgbClr val="6B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2743200" cy="109728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MVP1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46888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use case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Service-oriented integration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63240" y="2468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0000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743200" cy="3474720"/>
          </a:xfrm>
          <a:prstGeom prst="rect">
            <a:avLst/>
          </a:prstGeom>
          <a:solidFill>
            <a:srgbClr val="2A0A0A"/>
          </a:solidFill>
          <a:ln w="19050">
            <a:solidFill>
              <a:srgbClr val="9B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960120"/>
            <a:ext cx="2743200" cy="109728"/>
          </a:xfrm>
          <a:prstGeom prst="rect">
            <a:avLst/>
          </a:prstGeom>
          <a:solidFill>
            <a:srgbClr val="9B0000"/>
          </a:solidFill>
          <a:ln w="12700">
            <a:solidFill>
              <a:srgbClr val="9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MVP2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83280" y="1691640"/>
            <a:ext cx="246888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FMTM capability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+ shared storage architecture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89320" y="2468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0000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72200" y="960120"/>
            <a:ext cx="2743200" cy="3474720"/>
          </a:xfrm>
          <a:prstGeom prst="rect">
            <a:avLst/>
          </a:prstGeom>
          <a:solidFill>
            <a:srgbClr val="1A0000"/>
          </a:solidFill>
          <a:ln w="19050">
            <a:solidFill>
              <a:srgbClr val="EC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960120"/>
            <a:ext cx="2743200" cy="109728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XENA LaaS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1691640"/>
            <a:ext cx="246888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into a platform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solution → to capability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E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solution → to capability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 We Are Solving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2860"/>
          </a:xfrm>
          <a:prstGeom prst="rect">
            <a:avLst/>
          </a:prstGeom>
          <a:solidFill>
            <a:srgbClr val="330000"/>
          </a:solidFill>
          <a:ln w="12700">
            <a:solidFill>
              <a:srgbClr val="33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023360" cy="3474720"/>
          </a:xfrm>
          <a:prstGeom prst="rect">
            <a:avLst/>
          </a:prstGeom>
          <a:solidFill>
            <a:srgbClr val="1A1A1A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 Challenges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74904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coupling between systems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Payload-heavy integrations (memory + network pressure)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scalability in compute orchestration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integration effort per library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4023360" cy="3474720"/>
          </a:xfrm>
          <a:prstGeom prst="rect">
            <a:avLst/>
          </a:prstGeom>
          <a:solidFill>
            <a:srgbClr val="1A0000"/>
          </a:solidFill>
          <a:ln w="25400">
            <a:solidFill>
              <a:srgbClr val="E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Goal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749040" cy="22860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standard, reusable execution model for all GRID libraries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800600" y="3931920"/>
            <a:ext cx="4023360" cy="50292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39319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One Platform. Every Library.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Core Idea — XENA LaaS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2860"/>
          </a:xfrm>
          <a:prstGeom prst="rect">
            <a:avLst/>
          </a:prstGeom>
          <a:solidFill>
            <a:srgbClr val="330000"/>
          </a:solidFill>
          <a:ln w="12700">
            <a:solidFill>
              <a:srgbClr val="33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1600200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160020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Input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/ Data Lake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65960" y="1463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C0000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103120" y="960120"/>
            <a:ext cx="1600200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960120"/>
            <a:ext cx="160020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03320" y="1463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C0000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840480" y="960120"/>
            <a:ext cx="1600200" cy="1371600"/>
          </a:xfrm>
          <a:prstGeom prst="rect">
            <a:avLst/>
          </a:prstGeom>
          <a:solidFill>
            <a:srgbClr val="EC0000"/>
          </a:solidFill>
          <a:ln w="25400">
            <a:solidFill>
              <a:srgbClr val="E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960120"/>
            <a:ext cx="160020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XENA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40680" y="1463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C0000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577840" y="960120"/>
            <a:ext cx="1600200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960120"/>
            <a:ext cx="160020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GRID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Compute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78040" y="1463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C0000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0" y="960120"/>
            <a:ext cx="1600200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960120"/>
            <a:ext cx="160020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/ Results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2606040"/>
            <a:ext cx="8412480" cy="548640"/>
          </a:xfrm>
          <a:prstGeom prst="rect">
            <a:avLst/>
          </a:prstGeom>
          <a:solidFill>
            <a:srgbClr val="1A0000"/>
          </a:solidFill>
          <a:ln w="19050">
            <a:solidFill>
              <a:srgbClr val="EC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606040"/>
            <a:ext cx="8412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Principle — </a:t>
            </a:r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"S3 is the contract. Events are the orchestrator."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337560"/>
            <a:ext cx="2560320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37560"/>
            <a:ext cx="25603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payload relay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154680" y="3337560"/>
            <a:ext cx="2560320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3337560"/>
            <a:ext cx="25603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synchronous blocking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0" y="3337560"/>
            <a:ext cx="2560320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3337560"/>
            <a:ext cx="25603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service chaining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Overview — High-Level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2860"/>
          </a:xfrm>
          <a:prstGeom prst="rect">
            <a:avLst/>
          </a:prstGeom>
          <a:solidFill>
            <a:srgbClr val="330000"/>
          </a:solidFill>
          <a:ln w="12700">
            <a:solidFill>
              <a:srgbClr val="33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411480" cy="41148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1005840"/>
            <a:ext cx="438912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005840"/>
            <a:ext cx="42976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ingested into S3 (Data Lake)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09344"/>
            <a:ext cx="411480" cy="41148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09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1609344"/>
            <a:ext cx="438912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609344"/>
            <a:ext cx="42976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triggers XENA (serverless)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212848"/>
            <a:ext cx="411480" cy="41148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2212848"/>
            <a:ext cx="438912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212848"/>
            <a:ext cx="42976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XENA builds execution payload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816352"/>
            <a:ext cx="411480" cy="41148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816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2816352"/>
            <a:ext cx="438912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816352"/>
            <a:ext cx="42976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executes library (HPC)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419856"/>
            <a:ext cx="411480" cy="41148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419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3419856"/>
            <a:ext cx="438912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419856"/>
            <a:ext cx="42976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written back to S3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023360"/>
            <a:ext cx="411480" cy="41148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77240" y="4023360"/>
            <a:ext cx="438912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023360"/>
            <a:ext cx="42976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signaled via manifest.json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0" y="1005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Separation of Concerns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417320"/>
          <a:ext cx="3337560" cy="2560320"/>
        </p:xfrm>
        <a:graphic>
          <a:graphicData uri="http://schemas.openxmlformats.org/drawingml/2006/table">
            <a:tbl>
              <a:tblPr/>
              <a:tblGrid>
                <a:gridCol w="1371600"/>
                <a:gridCol w="19659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000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XENA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contract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 "Library" in LaaS?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2860"/>
          </a:xfrm>
          <a:prstGeom prst="rect">
            <a:avLst/>
          </a:prstGeom>
          <a:solidFill>
            <a:srgbClr val="330000"/>
          </a:solidFill>
          <a:ln w="12700">
            <a:solidFill>
              <a:srgbClr val="33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206240" cy="3474720"/>
          </a:xfrm>
          <a:prstGeom prst="rect">
            <a:avLst/>
          </a:prstGeom>
          <a:solidFill>
            <a:srgbClr val="1A1A1A"/>
          </a:solidFill>
          <a:ln w="25400">
            <a:solidFill>
              <a:srgbClr val="E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4206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Library is: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93192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versioned compute engine in GRID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Invoked via a standard contract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decoupled from orchestration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960120"/>
            <a:ext cx="3840480" cy="3474720"/>
          </a:xfrm>
          <a:prstGeom prst="rect">
            <a:avLst/>
          </a:prstGeom>
          <a:solidFill>
            <a:srgbClr val="1A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 Libraries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74920" y="1554480"/>
            <a:ext cx="3566160" cy="502920"/>
          </a:xfrm>
          <a:prstGeom prst="rect">
            <a:avLst/>
          </a:prstGeom>
          <a:solidFill>
            <a:srgbClr val="1E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554480"/>
            <a:ext cx="356616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pPr indent="0" marL="0">
              <a:buNone/>
            </a:pPr>
            <a:r>
              <a:rPr lang="en-US" sz="1100" dirty="0">
                <a:solidFill>
                  <a:srgbClr val="E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74920" y="2212848"/>
            <a:ext cx="3566160" cy="502920"/>
          </a:xfrm>
          <a:prstGeom prst="rect">
            <a:avLst/>
          </a:prstGeom>
          <a:solidFill>
            <a:srgbClr val="1E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2212848"/>
            <a:ext cx="356616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FMTM</a:t>
            </a:r>
            <a:pPr indent="0" marL="0">
              <a:buNone/>
            </a:pPr>
            <a:r>
              <a:rPr lang="en-US" sz="1100" dirty="0">
                <a:solidFill>
                  <a:srgbClr val="E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Live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74920" y="2871216"/>
            <a:ext cx="356616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2871216"/>
            <a:ext cx="356616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</a:t>
            </a:r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Planned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74920" y="3529584"/>
            <a:ext cx="356616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3529584"/>
            <a:ext cx="356616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Pricing</a:t>
            </a:r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Planned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Plane — Shared Storage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2860"/>
          </a:xfrm>
          <a:prstGeom prst="rect">
            <a:avLst/>
          </a:prstGeom>
          <a:solidFill>
            <a:srgbClr val="330000"/>
          </a:solidFill>
          <a:ln w="12700">
            <a:solidFill>
              <a:srgbClr val="33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114800" cy="146304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INPUT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84048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38404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s3://xena-input/{library}/...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606040"/>
            <a:ext cx="4114800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651760"/>
            <a:ext cx="4114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3840480" cy="1188720"/>
          </a:xfrm>
          <a:prstGeom prst="rect">
            <a:avLst/>
          </a:prstGeom>
          <a:solidFill>
            <a:srgbClr val="111111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17520"/>
            <a:ext cx="384048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s3://xena-output/{library}/{jobId}/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results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_progress.json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manifest.json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960120"/>
            <a:ext cx="4023360" cy="3474720"/>
          </a:xfrm>
          <a:prstGeom prst="rect">
            <a:avLst/>
          </a:prstGeom>
          <a:solidFill>
            <a:srgbClr val="1A0000"/>
          </a:solidFill>
          <a:ln w="19050">
            <a:solidFill>
              <a:srgbClr val="E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37760" y="1554480"/>
            <a:ext cx="3749040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554480"/>
            <a:ext cx="374904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data duplication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2423160"/>
            <a:ext cx="3749040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423160"/>
            <a:ext cx="374904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streaming processing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37760" y="3291840"/>
            <a:ext cx="3749040" cy="685800"/>
          </a:xfrm>
          <a:prstGeom prst="rect">
            <a:avLst/>
          </a:prstGeom>
          <a:solidFill>
            <a:srgbClr val="2A2A2A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291840"/>
            <a:ext cx="374904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independently of compute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Impact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2860"/>
          </a:xfrm>
          <a:prstGeom prst="rect">
            <a:avLst/>
          </a:prstGeom>
          <a:solidFill>
            <a:srgbClr val="330000"/>
          </a:solidFill>
          <a:ln w="12700">
            <a:solidFill>
              <a:srgbClr val="33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82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SLIDE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0" y="182880"/>
            <a:ext cx="1920240" cy="32004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182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SLIDE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3931920" cy="338328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CC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Traditional Model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365760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Book-level processing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bottlenecks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cluster utilization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347472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546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1828800" y="3154680"/>
            <a:ext cx="21945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92040" y="1005840"/>
            <a:ext cx="3931920" cy="3383280"/>
          </a:xfrm>
          <a:prstGeom prst="rect">
            <a:avLst/>
          </a:prstGeom>
          <a:solidFill>
            <a:srgbClr val="1A0000"/>
          </a:solidFill>
          <a:ln w="25400">
            <a:solidFill>
              <a:srgbClr val="E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XENA LaaS Model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0" y="1508760"/>
            <a:ext cx="365760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Deal-level parallelism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+ chunking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 cluster utilization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3154680"/>
            <a:ext cx="3566160" cy="1005840"/>
          </a:xfrm>
          <a:prstGeom prst="rect">
            <a:avLst/>
          </a:prstGeom>
          <a:solidFill>
            <a:srgbClr val="2A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1546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400800" y="3154680"/>
            <a:ext cx="21945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51960" y="2286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C0000"/>
                </a:solidFill>
              </a:rPr>
              <a:t>→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320040" y="4526280"/>
            <a:ext cx="8503920" cy="365760"/>
          </a:xfrm>
          <a:prstGeom prst="rect">
            <a:avLst/>
          </a:prstGeom>
          <a:solidFill>
            <a:srgbClr val="20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526280"/>
            <a:ext cx="85039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the Tail Problem: No long-running slow partitions — Balanced workload across nodes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Execution Model — Event-Driven Orchestration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2860"/>
          </a:xfrm>
          <a:prstGeom prst="rect">
            <a:avLst/>
          </a:prstGeom>
          <a:solidFill>
            <a:srgbClr val="330000"/>
          </a:solidFill>
          <a:ln w="12700">
            <a:solidFill>
              <a:srgbClr val="33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155448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74520" y="1005840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0000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84248" y="1005840"/>
            <a:ext cx="155448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84248" y="1005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38728" y="1005840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0000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48456" y="1005840"/>
            <a:ext cx="1554480" cy="73152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8456" y="1005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Lambda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02936" y="1005840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0000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12664" y="1005840"/>
            <a:ext cx="155448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12664" y="1005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67144" y="1005840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0000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76872" y="1005840"/>
            <a:ext cx="155448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76872" y="1005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GRID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2011680"/>
            <a:ext cx="4114800" cy="246888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GRID Execution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2468880"/>
            <a:ext cx="384048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directly from S3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in parallel (HTC)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results directly to S3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2011680"/>
            <a:ext cx="4023360" cy="2468880"/>
          </a:xfrm>
          <a:prstGeom prst="rect">
            <a:avLst/>
          </a:prstGeom>
          <a:solidFill>
            <a:srgbClr val="1A0000"/>
          </a:solidFill>
          <a:ln w="25400">
            <a:solidFill>
              <a:srgbClr val="EC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057400"/>
            <a:ext cx="4023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Completion Signal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37760" y="2514600"/>
            <a:ext cx="374904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514600"/>
            <a:ext cx="3749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manifest.json = job complete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246120"/>
            <a:ext cx="37490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polling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callbacks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Scalability &amp; Efficiency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2860"/>
          </a:xfrm>
          <a:prstGeom prst="rect">
            <a:avLst/>
          </a:prstGeom>
          <a:solidFill>
            <a:srgbClr val="330000"/>
          </a:solidFill>
          <a:ln w="12700">
            <a:solidFill>
              <a:srgbClr val="33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3931920"/>
          </a:xfrm>
          <a:prstGeom prst="rect">
            <a:avLst/>
          </a:prstGeom>
          <a:solidFill>
            <a:srgbClr val="1A1A1A"/>
          </a:solidFill>
          <a:ln w="25400">
            <a:solidFill>
              <a:srgbClr val="EC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2743200" cy="109728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 Plane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" y="1691640"/>
            <a:ext cx="2523744" cy="2926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serverless (Lambda, SQS)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idle cost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18688" y="960120"/>
            <a:ext cx="2743200" cy="3931920"/>
          </a:xfrm>
          <a:prstGeom prst="rect">
            <a:avLst/>
          </a:prstGeom>
          <a:solidFill>
            <a:srgbClr val="1A0000"/>
          </a:solidFill>
          <a:ln w="25400">
            <a:solidFill>
              <a:srgbClr val="EC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18688" y="960120"/>
            <a:ext cx="2743200" cy="109728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8688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Compute Plane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28416" y="1691640"/>
            <a:ext cx="2523744" cy="2926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optimized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deal execution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bottlenecks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960120"/>
            <a:ext cx="2743200" cy="3931920"/>
          </a:xfrm>
          <a:prstGeom prst="rect">
            <a:avLst/>
          </a:prstGeom>
          <a:solidFill>
            <a:srgbClr val="1A1A1A"/>
          </a:solidFill>
          <a:ln w="25400">
            <a:solidFill>
              <a:srgbClr val="EC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960120"/>
            <a:ext cx="2743200" cy="109728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Plane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36208" y="1691640"/>
            <a:ext cx="2523744" cy="2926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scalability (S3)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auditable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scaling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Reusability &amp; Standardization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2860"/>
          </a:xfrm>
          <a:prstGeom prst="rect">
            <a:avLst/>
          </a:prstGeom>
          <a:solidFill>
            <a:srgbClr val="330000"/>
          </a:solidFill>
          <a:ln w="12700">
            <a:solidFill>
              <a:srgbClr val="33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114800" cy="2194560"/>
          </a:xfrm>
          <a:prstGeom prst="rect">
            <a:avLst/>
          </a:prstGeom>
          <a:solidFill>
            <a:srgbClr val="1A1A1A"/>
          </a:solidFill>
          <a:ln w="19050">
            <a:solidFill>
              <a:srgbClr val="E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4114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Platform, Many Libraries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84048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onboarding model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re-architecture per use case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execution pattern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3337560"/>
            <a:ext cx="4114800" cy="1554480"/>
          </a:xfrm>
          <a:prstGeom prst="rect">
            <a:avLst/>
          </a:prstGeom>
          <a:solidFill>
            <a:srgbClr val="1A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Library Onboarding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822960" cy="82296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794760"/>
            <a:ext cx="8229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GRID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435608" y="3794760"/>
            <a:ext cx="822960" cy="82296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08" y="3794760"/>
            <a:ext cx="8229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contract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14016" y="3794760"/>
            <a:ext cx="822960" cy="82296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14016" y="3794760"/>
            <a:ext cx="8229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S3 prefix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92424" y="3794760"/>
            <a:ext cx="822960" cy="82296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92424" y="3794760"/>
            <a:ext cx="8229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00600" y="960120"/>
            <a:ext cx="4023360" cy="3931920"/>
          </a:xfrm>
          <a:prstGeom prst="rect">
            <a:avLst/>
          </a:prstGeom>
          <a:solidFill>
            <a:srgbClr val="120000"/>
          </a:solidFill>
          <a:ln w="19050">
            <a:solidFill>
              <a:srgbClr val="E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XENA Platform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83480" y="1554480"/>
            <a:ext cx="169164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44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554480"/>
            <a:ext cx="169164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12280" y="1554480"/>
            <a:ext cx="169164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44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1554480"/>
            <a:ext cx="169164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FMTM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83480" y="2359152"/>
            <a:ext cx="169164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44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359152"/>
            <a:ext cx="169164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12280" y="2359152"/>
            <a:ext cx="169164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44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2359152"/>
            <a:ext cx="169164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83480" y="3163824"/>
            <a:ext cx="169164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44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163824"/>
            <a:ext cx="169164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12280" y="3163824"/>
            <a:ext cx="169164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44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3163824"/>
            <a:ext cx="169164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More...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Value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2860"/>
          </a:xfrm>
          <a:prstGeom prst="rect">
            <a:avLst/>
          </a:prstGeom>
          <a:solidFill>
            <a:srgbClr val="330000"/>
          </a:solidFill>
          <a:ln w="12700">
            <a:solidFill>
              <a:srgbClr val="33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846320" cy="347472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48463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XENA LaaS Enables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5720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45720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time-to-market for new capabilities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45720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76272"/>
            <a:ext cx="45720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integration complexity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43784"/>
            <a:ext cx="45720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43784"/>
            <a:ext cx="45720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execution model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511296"/>
            <a:ext cx="45720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11296"/>
            <a:ext cx="457200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scalability across domains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532120" y="960120"/>
            <a:ext cx="3291840" cy="3474720"/>
          </a:xfrm>
          <a:prstGeom prst="rect">
            <a:avLst/>
          </a:prstGeom>
          <a:solidFill>
            <a:srgbClr val="1A0000"/>
          </a:solidFill>
          <a:ln w="25400">
            <a:solidFill>
              <a:srgbClr val="EC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1005840"/>
            <a:ext cx="32918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Positioning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XENA is not just an orchestrator.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577840" y="2103120"/>
            <a:ext cx="3108960" cy="1645920"/>
          </a:xfrm>
          <a:prstGeom prst="rect">
            <a:avLst/>
          </a:prstGeom>
          <a:solidFill>
            <a:srgbClr val="2A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2103120"/>
            <a:ext cx="3108960" cy="1645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is a Compute Platform for GRID Libraries.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85800"/>
            <a:ext cx="8412480" cy="640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+ shared storage is the foundation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41248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8412480" cy="640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become plug-and-play compute units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841248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31720"/>
            <a:ext cx="8412480" cy="640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XENA becomes a platform, not a project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5760" y="3246120"/>
            <a:ext cx="8412480" cy="1188720"/>
          </a:xfrm>
          <a:prstGeom prst="rect">
            <a:avLst/>
          </a:prstGeom>
          <a:solidFill>
            <a:srgbClr val="1A0000"/>
          </a:solidFill>
          <a:ln w="25400">
            <a:solidFill>
              <a:srgbClr val="E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291840"/>
            <a:ext cx="84124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82296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"Any library, any data, any scale — executed through a unified platform."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C0000"/>
          </a:solidFill>
          <a:ln w="12700">
            <a:solidFill>
              <a:srgbClr val="E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"We're not integrating systems anymore — we're standardizing how computation happens across the organization."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XENA LaaS - Library as a Service</dc:title>
  <dc:subject>PptxGenJS Presentation</dc:subject>
  <dc:creator>PptxGenJS</dc:creator>
  <cp:lastModifiedBy>PptxGenJS</cp:lastModifiedBy>
  <cp:revision>1</cp:revision>
  <dcterms:created xsi:type="dcterms:W3CDTF">2026-04-24T13:38:25Z</dcterms:created>
  <dcterms:modified xsi:type="dcterms:W3CDTF">2026-04-24T13:38:25Z</dcterms:modified>
</cp:coreProperties>
</file>