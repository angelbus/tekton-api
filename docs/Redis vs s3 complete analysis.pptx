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3" roundtripDataSignature="AMtx7mhwyjqm7sFBwK1cx04JXnJxrf7dk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2F6A371-383C-4076-86C3-90992FE30A76}">
  <a:tblStyle styleId="{52F6A371-383C-4076-86C3-90992FE30A7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22" Type="http://schemas.openxmlformats.org/officeDocument/2006/relationships/slide" Target="slides/slide17.xml"/><Relationship Id="rId10" Type="http://schemas.openxmlformats.org/officeDocument/2006/relationships/slide" Target="slides/slide5.xml"/><Relationship Id="rId21" Type="http://schemas.openxmlformats.org/officeDocument/2006/relationships/slide" Target="slides/slide16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23" Type="http://customschemas.google.com/relationships/presentationmetadata" Target="meta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" name="Google Shape;23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" name="Google Shape;24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" name="Google Shape;50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" name="Google Shape;66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" name="Google Shape;7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" name="Google Shape;11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1" name="Google Shape;121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7" name="Google Shape;137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6" name="Google Shape;19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7" name="Google Shape;207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5" name="Google Shape;22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8" name="Google Shape;23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5" name="Google Shape;24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76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600"/>
              <a:buFont typeface="Calibri"/>
              <a:buNone/>
            </a:pPr>
            <a:r>
              <a:rPr b="1" i="0" lang="en-US" sz="5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Redis vs S3</a:t>
            </a:r>
            <a:endParaRPr b="0" i="0" sz="5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457200" y="219456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3200"/>
              <a:buFont typeface="Calibri"/>
              <a:buNone/>
            </a:pPr>
            <a:r>
              <a:rPr b="0" i="0" lang="en-US" sz="32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Performance Benchmark &amp; Architecture Analysis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2743200" y="3017520"/>
            <a:ext cx="3657600" cy="4572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1"/>
          <p:cNvSpPr/>
          <p:nvPr/>
        </p:nvSpPr>
        <p:spPr>
          <a:xfrm>
            <a:off x="457200" y="347472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800"/>
              <a:buFont typeface="Calibri"/>
              <a:buNone/>
            </a:pPr>
            <a:r>
              <a:rPr b="0" i="1" lang="en-US" sz="18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Empirical Analysis for </a:t>
            </a:r>
            <a:r>
              <a:rPr i="1" lang="en-US" sz="18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Jose</a:t>
            </a:r>
            <a:r>
              <a:rPr b="0" i="1" lang="en-US" sz="18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 MVP2 Architecture Decision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400"/>
              <a:buFont typeface="Calibri"/>
              <a:buNone/>
            </a:pPr>
            <a:r>
              <a:rPr lang="en-US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Jose</a:t>
            </a:r>
            <a:r>
              <a:rPr b="0" i="0" lang="en-US" sz="14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 Architecture Team  •  2026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4000"/>
              <a:buFont typeface="Calibri"/>
              <a:buNone/>
            </a:pPr>
            <a:r>
              <a:rPr b="1" i="0" lang="en-US" sz="4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Agenda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2"/>
          <p:cNvSpPr/>
          <p:nvPr/>
        </p:nvSpPr>
        <p:spPr>
          <a:xfrm>
            <a:off x="914400" y="1188720"/>
            <a:ext cx="365760" cy="365760"/>
          </a:xfrm>
          <a:prstGeom prst="ellipse">
            <a:avLst/>
          </a:prstGeom>
          <a:solidFill>
            <a:srgbClr val="2E75B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914400" y="118872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"/>
          <p:cNvSpPr/>
          <p:nvPr/>
        </p:nvSpPr>
        <p:spPr>
          <a:xfrm>
            <a:off x="1463040" y="123444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Test Environment &amp; Methodology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2"/>
          <p:cNvSpPr/>
          <p:nvPr/>
        </p:nvSpPr>
        <p:spPr>
          <a:xfrm>
            <a:off x="914400" y="1691640"/>
            <a:ext cx="365760" cy="365760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2"/>
          <p:cNvSpPr/>
          <p:nvPr/>
        </p:nvSpPr>
        <p:spPr>
          <a:xfrm>
            <a:off x="914400" y="169164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2"/>
          <p:cNvSpPr/>
          <p:nvPr/>
        </p:nvSpPr>
        <p:spPr>
          <a:xfrm>
            <a:off x="1463040" y="173736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Upload Performance Deep Dive (NEW)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2"/>
          <p:cNvSpPr/>
          <p:nvPr/>
        </p:nvSpPr>
        <p:spPr>
          <a:xfrm>
            <a:off x="914400" y="2194560"/>
            <a:ext cx="365760" cy="365760"/>
          </a:xfrm>
          <a:prstGeom prst="ellipse">
            <a:avLst/>
          </a:prstGeom>
          <a:solidFill>
            <a:srgbClr val="2E75B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914400" y="219456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1463040" y="224028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Benchmark Results: All File Sizes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2"/>
          <p:cNvSpPr/>
          <p:nvPr/>
        </p:nvSpPr>
        <p:spPr>
          <a:xfrm>
            <a:off x="914400" y="2697480"/>
            <a:ext cx="365760" cy="365760"/>
          </a:xfrm>
          <a:prstGeom prst="ellipse">
            <a:avLst/>
          </a:prstGeom>
          <a:solidFill>
            <a:srgbClr val="2E75B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914400" y="269748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2"/>
          <p:cNvSpPr/>
          <p:nvPr/>
        </p:nvSpPr>
        <p:spPr>
          <a:xfrm>
            <a:off x="1463040" y="274320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Performance Analysis &amp; Comparison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914400" y="3200400"/>
            <a:ext cx="365760" cy="365760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914400" y="320040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1463040" y="324612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Cost Analysis &amp; ROI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914400" y="3703320"/>
            <a:ext cx="365760" cy="365760"/>
          </a:xfrm>
          <a:prstGeom prst="ellipse">
            <a:avLst/>
          </a:prstGeom>
          <a:solidFill>
            <a:srgbClr val="FF9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914400" y="370332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1463040" y="374904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Hybrid Architecture Consideration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2"/>
          <p:cNvSpPr/>
          <p:nvPr/>
        </p:nvSpPr>
        <p:spPr>
          <a:xfrm>
            <a:off x="914400" y="4206240"/>
            <a:ext cx="365760" cy="36576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914400" y="420624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2"/>
          <p:cNvSpPr/>
          <p:nvPr/>
        </p:nvSpPr>
        <p:spPr>
          <a:xfrm>
            <a:off x="1463040" y="425196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Decision Framework &amp; Recommendation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5F5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3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4000"/>
              <a:buFont typeface="Calibri"/>
              <a:buNone/>
            </a:pPr>
            <a:r>
              <a:rPr b="1" i="0" lang="en-US" sz="4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Executive Summary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3"/>
          <p:cNvSpPr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solidFill>
            <a:srgbClr val="00B050">
              <a:alpha val="9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3"/>
          <p:cNvSpPr/>
          <p:nvPr/>
        </p:nvSpPr>
        <p:spPr>
          <a:xfrm>
            <a:off x="640080" y="1234440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050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🎯 Primary Finding: </a:t>
            </a:r>
            <a:r>
              <a:rPr b="0" i="0" lang="en-US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S3 Managed Multipart achieves </a:t>
            </a:r>
            <a:r>
              <a:rPr b="1" i="0" lang="en-US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near-Redis upload performance</a:t>
            </a:r>
            <a:r>
              <a:rPr b="0" i="0" lang="en-US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(only 3.6% slower) while delivering </a:t>
            </a:r>
            <a:r>
              <a:rPr b="1" i="0" lang="en-US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82x faster time-to-first-byte</a:t>
            </a:r>
            <a:r>
              <a:rPr b="0" i="0" lang="en-US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(27ms vs 2.15s). S3 Multipart is also </a:t>
            </a:r>
            <a:r>
              <a:rPr b="1" i="0" lang="en-US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1.5x faster than traditional S3 PUT</a:t>
            </a:r>
            <a:r>
              <a:rPr b="0" i="0" lang="en-US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3"/>
          <p:cNvSpPr/>
          <p:nvPr/>
        </p:nvSpPr>
        <p:spPr>
          <a:xfrm>
            <a:off x="457200" y="2103120"/>
            <a:ext cx="4023360" cy="822960"/>
          </a:xfrm>
          <a:prstGeom prst="rect">
            <a:avLst/>
          </a:prstGeom>
          <a:solidFill>
            <a:srgbClr val="1E2761">
              <a:alpha val="9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3"/>
          <p:cNvSpPr/>
          <p:nvPr/>
        </p:nvSpPr>
        <p:spPr>
          <a:xfrm>
            <a:off x="640080" y="2286000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💰 Cost Impact: </a:t>
            </a:r>
            <a:r>
              <a:rPr b="1" i="0" lang="en-US" sz="2200" u="none" cap="none" strike="noStrike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99.5% reduction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$4,666/mo → $25/mo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050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Annual savings: $55,987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3"/>
          <p:cNvSpPr/>
          <p:nvPr/>
        </p:nvSpPr>
        <p:spPr>
          <a:xfrm>
            <a:off x="4663440" y="2103120"/>
            <a:ext cx="4023360" cy="822960"/>
          </a:xfrm>
          <a:prstGeom prst="rect">
            <a:avLst/>
          </a:prstGeom>
          <a:solidFill>
            <a:srgbClr val="FF9900">
              <a:alpha val="9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3"/>
          <p:cNvSpPr/>
          <p:nvPr/>
        </p:nvSpPr>
        <p:spPr>
          <a:xfrm>
            <a:off x="4846320" y="2286000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9900"/>
                </a:solidFill>
                <a:latin typeface="Calibri"/>
                <a:ea typeface="Calibri"/>
                <a:cs typeface="Calibri"/>
                <a:sym typeface="Calibri"/>
              </a:rPr>
              <a:t>⚙️ Small Files (&lt;2MB): </a:t>
            </a:r>
            <a:r>
              <a:rPr b="0" i="0" lang="en-US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Redis faster by 30ms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But: </a:t>
            </a:r>
            <a:r>
              <a:rPr b="0" i="0" lang="en-US" sz="1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Negligible in context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Hybrid option available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3"/>
          <p:cNvSpPr/>
          <p:nvPr/>
        </p:nvSpPr>
        <p:spPr>
          <a:xfrm>
            <a:off x="457200" y="3108946"/>
            <a:ext cx="8229600" cy="10149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3"/>
          <p:cNvSpPr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✅ Recommendation: Pure S3 architecture with Managed Multipart for </a:t>
            </a:r>
            <a:r>
              <a:rPr b="1" lang="en-US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Angel</a:t>
            </a: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(156-256MB files)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457200" y="37033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Rationale: Near-Redis performance, 82x TTFB improvement, 99.5% cost savings, optimal for event-driven systems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3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Note: </a:t>
            </a:r>
            <a:r>
              <a:rPr b="0" i="1" lang="en-US" sz="12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S3 Multipart vastly outperforms traditional S3 PUT (1.5x faster). Hybrid architecture analyzed for edge cases.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4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4000"/>
              <a:buFont typeface="Calibri"/>
              <a:buNone/>
            </a:pPr>
            <a:r>
              <a:rPr b="1" i="0" lang="en-US" sz="4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Test Environment &amp; Methodology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4"/>
          <p:cNvSpPr/>
          <p:nvPr/>
        </p:nvSpPr>
        <p:spPr>
          <a:xfrm>
            <a:off x="457200" y="1097280"/>
            <a:ext cx="4114800" cy="3474720"/>
          </a:xfrm>
          <a:prstGeom prst="rect">
            <a:avLst/>
          </a:prstGeom>
          <a:solidFill>
            <a:srgbClr val="2E75B5">
              <a:alpha val="9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4"/>
          <p:cNvSpPr/>
          <p:nvPr/>
        </p:nvSpPr>
        <p:spPr>
          <a:xfrm>
            <a:off x="640080" y="128016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75B5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rPr>
              <a:t>Infrastructure Configuration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4"/>
          <p:cNvSpPr/>
          <p:nvPr/>
        </p:nvSpPr>
        <p:spPr>
          <a:xfrm>
            <a:off x="822960" y="1828800"/>
            <a:ext cx="36576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AWS Region: </a:t>
            </a:r>
            <a:r>
              <a:rPr b="0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us-east-1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Compute: 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• Lambda: 2048 MB memory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• Timeout: 15 minutes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Storage: 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• Redis: ElastiCache (same VPC)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• S3: Standard (same region)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Network &amp; SDK: 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• VPC Gateway Endpoint (private)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• AWS SDK v2 (boto3)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• No internet egress traffic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4"/>
          <p:cNvSpPr/>
          <p:nvPr/>
        </p:nvSpPr>
        <p:spPr>
          <a:xfrm>
            <a:off x="5029200" y="1097280"/>
            <a:ext cx="4114800" cy="3474720"/>
          </a:xfrm>
          <a:prstGeom prst="rect">
            <a:avLst/>
          </a:prstGeom>
          <a:solidFill>
            <a:srgbClr val="02C39A">
              <a:alpha val="9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4"/>
          <p:cNvSpPr/>
          <p:nvPr/>
        </p:nvSpPr>
        <p:spPr>
          <a:xfrm>
            <a:off x="5212080" y="128016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75B5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rPr>
              <a:t>Test Parameters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"/>
          <p:cNvSpPr/>
          <p:nvPr/>
        </p:nvSpPr>
        <p:spPr>
          <a:xfrm>
            <a:off x="5394960" y="1828800"/>
            <a:ext cx="36576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File Sizes Tested: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• &lt;2 MB (very small)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• 20 MB (small)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• 256 MB (large - </a:t>
            </a:r>
            <a:r>
              <a:rPr lang="en-US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Angel</a:t>
            </a:r>
            <a:r>
              <a:rPr b="0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 use case)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Upload Methods Compared: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• Redis SET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• S3 Single PUT (traditional)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• S3 Multipart (boto3 managed)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S3 Multipart Configuration: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• Chunk size: 10 MB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• Parallel threads: 10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4000"/>
              <a:buFont typeface="Calibri"/>
              <a:buNone/>
            </a:pPr>
            <a:r>
              <a:rPr b="1" i="0" lang="en-US" sz="4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Upload Performance Deep Dive: 256 MB Files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5"/>
          <p:cNvSpPr/>
          <p:nvPr/>
        </p:nvSpPr>
        <p:spPr>
          <a:xfrm>
            <a:off x="457200" y="777240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Comparing all upload approaches: Traditional vs Modern vs In-Memory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5"/>
          <p:cNvSpPr/>
          <p:nvPr/>
        </p:nvSpPr>
        <p:spPr>
          <a:xfrm>
            <a:off x="914400" y="1188720"/>
            <a:ext cx="2468880" cy="2743200"/>
          </a:xfrm>
          <a:prstGeom prst="rect">
            <a:avLst/>
          </a:prstGeom>
          <a:solidFill>
            <a:srgbClr val="C00000">
              <a:alpha val="9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5"/>
          <p:cNvSpPr/>
          <p:nvPr/>
        </p:nvSpPr>
        <p:spPr>
          <a:xfrm>
            <a:off x="1005840" y="137160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S3 Single PUT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5"/>
          <p:cNvSpPr/>
          <p:nvPr/>
        </p:nvSpPr>
        <p:spPr>
          <a:xfrm>
            <a:off x="1005840" y="1691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(Traditional Approach)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5"/>
          <p:cNvSpPr/>
          <p:nvPr/>
        </p:nvSpPr>
        <p:spPr>
          <a:xfrm>
            <a:off x="1097280" y="2103120"/>
            <a:ext cx="210312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4400"/>
              <a:buFont typeface="Calibri"/>
              <a:buNone/>
            </a:pPr>
            <a:r>
              <a:rPr b="1" i="0" lang="en-US" sz="4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2.376s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107.72 MB/s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vs Redis: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34% SLOWER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What most teams test first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5"/>
          <p:cNvSpPr/>
          <p:nvPr/>
        </p:nvSpPr>
        <p:spPr>
          <a:xfrm>
            <a:off x="3657600" y="1188720"/>
            <a:ext cx="2468880" cy="2743200"/>
          </a:xfrm>
          <a:prstGeom prst="rect">
            <a:avLst/>
          </a:prstGeom>
          <a:solidFill>
            <a:srgbClr val="00B050">
              <a:alpha val="9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5"/>
          <p:cNvSpPr/>
          <p:nvPr/>
        </p:nvSpPr>
        <p:spPr>
          <a:xfrm>
            <a:off x="3749040" y="137160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B050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S3 Managed Multipart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5"/>
          <p:cNvSpPr/>
          <p:nvPr/>
        </p:nvSpPr>
        <p:spPr>
          <a:xfrm>
            <a:off x="3749040" y="1691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(Modern Approach)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5"/>
          <p:cNvSpPr/>
          <p:nvPr/>
        </p:nvSpPr>
        <p:spPr>
          <a:xfrm>
            <a:off x="3840480" y="2103120"/>
            <a:ext cx="210312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B050"/>
              </a:buClr>
              <a:buSzPts val="4400"/>
              <a:buFont typeface="Calibri"/>
              <a:buNone/>
            </a:pPr>
            <a:r>
              <a:rPr b="1" i="0" lang="en-US" sz="4400" u="none" cap="none" strike="noStrike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1.626s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157.48 MB/s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vs Redis: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B050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Only 3.6% slower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boto3 automatic - 1.5x faster!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5"/>
          <p:cNvSpPr/>
          <p:nvPr/>
        </p:nvSpPr>
        <p:spPr>
          <a:xfrm>
            <a:off x="6400800" y="1188720"/>
            <a:ext cx="2468880" cy="2743200"/>
          </a:xfrm>
          <a:prstGeom prst="rect">
            <a:avLst/>
          </a:prstGeom>
          <a:solidFill>
            <a:srgbClr val="2E75B5">
              <a:alpha val="9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5"/>
          <p:cNvSpPr/>
          <p:nvPr/>
        </p:nvSpPr>
        <p:spPr>
          <a:xfrm>
            <a:off x="6492240" y="137160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75B5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rPr>
              <a:t>Redis SET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5"/>
          <p:cNvSpPr/>
          <p:nvPr/>
        </p:nvSpPr>
        <p:spPr>
          <a:xfrm>
            <a:off x="6492240" y="1691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(In-Memory)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5"/>
          <p:cNvSpPr/>
          <p:nvPr/>
        </p:nvSpPr>
        <p:spPr>
          <a:xfrm>
            <a:off x="6583680" y="2103120"/>
            <a:ext cx="210312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75B5"/>
              </a:buClr>
              <a:buSzPts val="4400"/>
              <a:buFont typeface="Calibri"/>
              <a:buNone/>
            </a:pPr>
            <a:r>
              <a:rPr b="1" i="0" lang="en-US" sz="4400" u="none" cap="none" strike="noStrik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rPr>
              <a:t>1.569s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163.21 MB/s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vs Redis: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75B5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rPr>
              <a:t>BASELINE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Fastest (marginally)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5"/>
          <p:cNvSpPr/>
          <p:nvPr/>
        </p:nvSpPr>
        <p:spPr>
          <a:xfrm>
            <a:off x="326700" y="4003875"/>
            <a:ext cx="8721900" cy="1033200"/>
          </a:xfrm>
          <a:prstGeom prst="rect">
            <a:avLst/>
          </a:prstGeom>
          <a:solidFill>
            <a:srgbClr val="00B050">
              <a:alpha val="9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5"/>
          <p:cNvSpPr/>
          <p:nvPr/>
        </p:nvSpPr>
        <p:spPr>
          <a:xfrm>
            <a:off x="640080" y="4297680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050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💡 Key Insight: </a:t>
            </a:r>
            <a:r>
              <a:rPr b="0" i="0" lang="en-US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S3 Managed Multipart is </a:t>
            </a:r>
            <a:r>
              <a:rPr b="1" i="0" lang="en-US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1.5x faster than traditional S3 PUT</a:t>
            </a:r>
            <a:r>
              <a:rPr b="0" i="0" lang="en-US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and achieves </a:t>
            </a:r>
            <a:r>
              <a:rPr b="1" i="0" lang="en-US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near-Redis performance</a:t>
            </a:r>
            <a:r>
              <a:rPr b="0" i="0" lang="en-US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. 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The marginal 57ms difference (3.6%) is negligible when considering S3's 82x TTFB advantage and 99.5% cost savings.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6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4000"/>
              <a:buFont typeface="Calibri"/>
              <a:buNone/>
            </a:pPr>
            <a:r>
              <a:rPr b="1" i="0" lang="en-US" sz="4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Benchmark Results: 256 MB Files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6"/>
          <p:cNvSpPr/>
          <p:nvPr/>
        </p:nvSpPr>
        <p:spPr>
          <a:xfrm>
            <a:off x="457200" y="777240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Primary use case for </a:t>
            </a:r>
            <a:r>
              <a:rPr i="1" lang="en-US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Angel</a:t>
            </a:r>
            <a:r>
              <a:rPr b="0" i="1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 calibration inputs/outputs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04" name="Google Shape;104;p6"/>
          <p:cNvGraphicFramePr/>
          <p:nvPr/>
        </p:nvGraphicFramePr>
        <p:xfrm>
          <a:off x="457200" y="118872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{52F6A371-383C-4076-86C3-90992FE30A76}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Operation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Duration (s)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Throughput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(MB/s)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Notes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Redis Upload (SET)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1.569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163.21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Fastest upload (marginally)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cap="none" strike="noStrike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S3 Single Upload (PUT)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cap="none" strike="noStrike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2.376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cap="none" strike="noStrike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107.72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❌ Traditional - 34% slower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S3 Managed Multipart Upload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1.626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157.48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✅ Modern - 3.6% slower than Redis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cap="none" strike="noStrike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Redis Download (GET)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cap="none" strike="noStrike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2.148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cap="none" strike="noStrike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119.18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Complete transfer required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S3 Managed Download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1.993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128.46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✅ 7.5% faster than Redis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S3 Streaming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0.027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9502.98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🚀 Time to FIRST CHUNK (27ms)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5" name="Google Shape;105;p6"/>
          <p:cNvSpPr/>
          <p:nvPr/>
        </p:nvSpPr>
        <p:spPr>
          <a:xfrm>
            <a:off x="457200" y="1188720"/>
            <a:ext cx="8229600" cy="4116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6"/>
          <p:cNvSpPr/>
          <p:nvPr/>
        </p:nvSpPr>
        <p:spPr>
          <a:xfrm>
            <a:off x="457200" y="4297680"/>
            <a:ext cx="8229600" cy="640200"/>
          </a:xfrm>
          <a:prstGeom prst="rect">
            <a:avLst/>
          </a:prstGeom>
          <a:solidFill>
            <a:srgbClr val="C00000">
              <a:alpha val="9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6"/>
          <p:cNvSpPr/>
          <p:nvPr/>
        </p:nvSpPr>
        <p:spPr>
          <a:xfrm>
            <a:off x="640080" y="4480560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🚀 Critical Finding: </a:t>
            </a:r>
            <a:r>
              <a:rPr b="1" i="0" lang="en-US" sz="1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Don't use traditional S3 PUT! </a:t>
            </a:r>
            <a:r>
              <a:rPr b="0" i="0" lang="en-US" sz="1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S3 Managed Multipart achieves near-Redis upload speed AND enables processing to begin in </a:t>
            </a:r>
            <a:r>
              <a:rPr b="1" i="0" lang="en-US" sz="18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27ms</a:t>
            </a:r>
            <a:r>
              <a:rPr b="0" i="0" lang="en-US" sz="1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(82x faster than Redis).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7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4000"/>
              <a:buFont typeface="Calibri"/>
              <a:buNone/>
            </a:pPr>
            <a:r>
              <a:rPr b="1" i="0" lang="en-US" sz="4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Benchmark Results: 20 MB Files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7"/>
          <p:cNvSpPr/>
          <p:nvPr/>
        </p:nvSpPr>
        <p:spPr>
          <a:xfrm>
            <a:off x="457200" y="777240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Testing small file performance characteristics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15" name="Google Shape;115;p7"/>
          <p:cNvGraphicFramePr/>
          <p:nvPr/>
        </p:nvGraphicFramePr>
        <p:xfrm>
          <a:off x="457200" y="118872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{52F6A371-383C-4076-86C3-90992FE30A76}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Operation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Duration (s)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Throughput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(MB/s)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Notes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Redis Upload (SET)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0.164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313.12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⭐ Fastest upload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cap="none" strike="noStrike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Redis Download (GET)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cap="none" strike="noStrike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0.221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cap="none" strike="noStrike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165.69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Complete transfer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cap="none" strike="noStrike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S3 Managed Upload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cap="none" strike="noStrike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0.240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cap="none" strike="noStrike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83.40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boto3 multipart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cap="none" strike="noStrike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S3 Managed Download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cap="none" strike="noStrike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0.255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cap="none" strike="noStrike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78.44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boto3 optimized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S3 Streaming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0.026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759.01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⭐ Fastest TTFB (26ms)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S3 Range GET (Parallel)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0.158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126.74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⭐ Fastest download (1.4x vs Redis)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6" name="Google Shape;116;p7"/>
          <p:cNvSpPr/>
          <p:nvPr/>
        </p:nvSpPr>
        <p:spPr>
          <a:xfrm>
            <a:off x="457200" y="1188720"/>
            <a:ext cx="8229600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7"/>
          <p:cNvSpPr/>
          <p:nvPr/>
        </p:nvSpPr>
        <p:spPr>
          <a:xfrm>
            <a:off x="457200" y="4343400"/>
            <a:ext cx="8229600" cy="640080"/>
          </a:xfrm>
          <a:prstGeom prst="rect">
            <a:avLst/>
          </a:prstGeom>
          <a:solidFill>
            <a:srgbClr val="02C39A">
              <a:alpha val="9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7"/>
          <p:cNvSpPr/>
          <p:nvPr/>
        </p:nvSpPr>
        <p:spPr>
          <a:xfrm>
            <a:off x="640080" y="448056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75B5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rPr>
              <a:t>💡 Key Insight: </a:t>
            </a:r>
            <a:r>
              <a:rPr b="0" i="0" lang="en-US" sz="1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S3 streaming performance remains </a:t>
            </a:r>
            <a:r>
              <a:rPr b="1" i="0" lang="en-US" sz="1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constant at ~26ms</a:t>
            </a:r>
            <a:r>
              <a:rPr b="0" i="0" lang="en-US" sz="1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regardless of file size. S3 Range GET outperforms Redis even for small files when measuring complete download speed.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8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4000"/>
              <a:buFont typeface="Calibri"/>
              <a:buNone/>
            </a:pPr>
            <a:r>
              <a:rPr b="1" i="0" lang="en-US" sz="4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Benchmark Results: Very Small Files (&lt;2 MB)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8"/>
          <p:cNvSpPr/>
          <p:nvPr/>
        </p:nvSpPr>
        <p:spPr>
          <a:xfrm>
            <a:off x="457200" y="777240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Edge case analysis for hybrid architecture consideration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8"/>
          <p:cNvSpPr/>
          <p:nvPr/>
        </p:nvSpPr>
        <p:spPr>
          <a:xfrm>
            <a:off x="1371600" y="1371600"/>
            <a:ext cx="3200400" cy="1828800"/>
          </a:xfrm>
          <a:prstGeom prst="rect">
            <a:avLst/>
          </a:prstGeom>
          <a:solidFill>
            <a:srgbClr val="C00000">
              <a:alpha val="9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8"/>
          <p:cNvSpPr/>
          <p:nvPr/>
        </p:nvSpPr>
        <p:spPr>
          <a:xfrm>
            <a:off x="1371600" y="155448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Redis Download (GET)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8"/>
          <p:cNvSpPr/>
          <p:nvPr/>
        </p:nvSpPr>
        <p:spPr>
          <a:xfrm>
            <a:off x="1371600" y="2103120"/>
            <a:ext cx="3200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5600"/>
              <a:buFont typeface="Calibri"/>
              <a:buNone/>
            </a:pPr>
            <a:r>
              <a:rPr b="1" i="0" lang="en-US" sz="56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91</a:t>
            </a:r>
            <a:endParaRPr b="0" i="0" sz="5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milliseconds</a:t>
            </a:r>
            <a:endParaRPr b="0" i="0" sz="5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8"/>
          <p:cNvSpPr/>
          <p:nvPr/>
        </p:nvSpPr>
        <p:spPr>
          <a:xfrm>
            <a:off x="5029200" y="1371600"/>
            <a:ext cx="3200400" cy="1828800"/>
          </a:xfrm>
          <a:prstGeom prst="rect">
            <a:avLst/>
          </a:prstGeom>
          <a:solidFill>
            <a:srgbClr val="2E75B5">
              <a:alpha val="9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8"/>
          <p:cNvSpPr/>
          <p:nvPr/>
        </p:nvSpPr>
        <p:spPr>
          <a:xfrm>
            <a:off x="5029200" y="155448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75B5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rPr>
              <a:t>S3 Streaming Download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8"/>
          <p:cNvSpPr/>
          <p:nvPr/>
        </p:nvSpPr>
        <p:spPr>
          <a:xfrm>
            <a:off x="5029200" y="2103120"/>
            <a:ext cx="3200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75B5"/>
              </a:buClr>
              <a:buSzPts val="5600"/>
              <a:buFont typeface="Calibri"/>
              <a:buNone/>
            </a:pPr>
            <a:r>
              <a:rPr b="1" i="0" lang="en-US" sz="5600" u="none" cap="none" strike="noStrik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rPr>
              <a:t>121</a:t>
            </a:r>
            <a:endParaRPr b="0" i="0" sz="5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milliseconds</a:t>
            </a:r>
            <a:endParaRPr b="0" i="0" sz="5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8"/>
          <p:cNvSpPr/>
          <p:nvPr/>
        </p:nvSpPr>
        <p:spPr>
          <a:xfrm>
            <a:off x="457200" y="3474720"/>
            <a:ext cx="822960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8"/>
          <p:cNvSpPr/>
          <p:nvPr/>
        </p:nvSpPr>
        <p:spPr>
          <a:xfrm>
            <a:off x="640080" y="3657600"/>
            <a:ext cx="7863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Performance Analysis: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8"/>
          <p:cNvSpPr/>
          <p:nvPr/>
        </p:nvSpPr>
        <p:spPr>
          <a:xfrm>
            <a:off x="822960" y="4023360"/>
            <a:ext cx="74980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• Delta: </a:t>
            </a:r>
            <a:r>
              <a:rPr b="0" i="0" lang="en-US" sz="15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30ms (33% slower for S3)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• Context: 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Negligible in typical request latency (100-500ms total)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• Significance: 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Redis advantage for very small files, but marginal impact on user experience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4000"/>
              <a:buFont typeface="Calibri"/>
              <a:buNone/>
            </a:pPr>
            <a:r>
              <a:rPr b="1" i="0" lang="en-US" sz="4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Performance Comparison Summary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9"/>
          <p:cNvSpPr/>
          <p:nvPr/>
        </p:nvSpPr>
        <p:spPr>
          <a:xfrm>
            <a:off x="731520" y="1097280"/>
            <a:ext cx="2560320" cy="3200400"/>
          </a:xfrm>
          <a:prstGeom prst="rect">
            <a:avLst/>
          </a:prstGeom>
          <a:solidFill>
            <a:srgbClr val="00B050">
              <a:alpha val="9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9"/>
          <p:cNvSpPr/>
          <p:nvPr/>
        </p:nvSpPr>
        <p:spPr>
          <a:xfrm>
            <a:off x="914400" y="128016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Upload Speed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(256MB)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9"/>
          <p:cNvSpPr/>
          <p:nvPr/>
        </p:nvSpPr>
        <p:spPr>
          <a:xfrm>
            <a:off x="1005840" y="1920240"/>
            <a:ext cx="201168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Redis: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1.57s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S3: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1.63s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Winner: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050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S3 Multipart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050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3.6% slower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050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(negligible)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9"/>
          <p:cNvSpPr/>
          <p:nvPr/>
        </p:nvSpPr>
        <p:spPr>
          <a:xfrm>
            <a:off x="3474720" y="1097280"/>
            <a:ext cx="2560320" cy="3200400"/>
          </a:xfrm>
          <a:prstGeom prst="rect">
            <a:avLst/>
          </a:prstGeom>
          <a:solidFill>
            <a:srgbClr val="00B050">
              <a:alpha val="9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9"/>
          <p:cNvSpPr/>
          <p:nvPr/>
        </p:nvSpPr>
        <p:spPr>
          <a:xfrm>
            <a:off x="3657600" y="128016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Download Speed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(256MB)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9"/>
          <p:cNvSpPr/>
          <p:nvPr/>
        </p:nvSpPr>
        <p:spPr>
          <a:xfrm>
            <a:off x="3749040" y="1920240"/>
            <a:ext cx="201168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Redis: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2.15s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S3: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1.99s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Winner: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050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S3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050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7.5% faster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9"/>
          <p:cNvSpPr/>
          <p:nvPr/>
        </p:nvSpPr>
        <p:spPr>
          <a:xfrm>
            <a:off x="6217920" y="1097280"/>
            <a:ext cx="2560320" cy="3200400"/>
          </a:xfrm>
          <a:prstGeom prst="rect">
            <a:avLst/>
          </a:prstGeom>
          <a:solidFill>
            <a:srgbClr val="00B050">
              <a:alpha val="9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9"/>
          <p:cNvSpPr/>
          <p:nvPr/>
        </p:nvSpPr>
        <p:spPr>
          <a:xfrm>
            <a:off x="6400800" y="128016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Time-to-First-Byte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(256MB)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9"/>
          <p:cNvSpPr/>
          <p:nvPr/>
        </p:nvSpPr>
        <p:spPr>
          <a:xfrm>
            <a:off x="6492240" y="1920240"/>
            <a:ext cx="201168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Redis: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2.15s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S3: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0.027s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Winner: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050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S3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050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82x faster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9"/>
          <p:cNvSpPr/>
          <p:nvPr/>
        </p:nvSpPr>
        <p:spPr>
          <a:xfrm>
            <a:off x="457200" y="4480560"/>
            <a:ext cx="822960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libri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Overall: S3 Multipart delivers near-Redis performance + 82x better time-to-first-byte + 99.5% cost savings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4000"/>
              <a:buFont typeface="Calibri"/>
              <a:buNone/>
            </a:pPr>
            <a:r>
              <a:rPr b="1" i="0" lang="en-US" sz="4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Cost Analysis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0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Assumption: 1,000 daily requests × 256 MB = 256 GB/day, 7-day retention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59" name="Google Shape;159;p10"/>
          <p:cNvGraphicFramePr/>
          <p:nvPr/>
        </p:nvGraphicFramePr>
        <p:xfrm>
          <a:off x="914400" y="12801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{52F6A371-383C-4076-86C3-90992FE30A76}</a:tableStyleId>
              </a:tblPr>
              <a:tblGrid>
                <a:gridCol w="2438400"/>
                <a:gridCol w="2438400"/>
                <a:gridCol w="2438400"/>
              </a:tblGrid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Component</a:t>
                      </a:r>
                      <a:endParaRPr sz="14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Redis Approach</a:t>
                      </a:r>
                      <a:endParaRPr sz="14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S3 Approach</a:t>
                      </a:r>
                      <a:endParaRPr sz="14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cap="none" strike="noStrike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Storage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ElastiCache r6g.8xlarge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244GB memory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$4,666/month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S3 Standard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1.09TB (7-day retention)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$25/month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cap="none" strike="noStrike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API Requests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Included in ElastiCache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PUT: $0.15/month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GET: $0.01/month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Total Monthly Cost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$4,666</a:t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$25.16</a:t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Monthly Savings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4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1400"/>
                        <a:buFont typeface="Calibri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$4,640.84</a:t>
                      </a:r>
                      <a:endParaRPr sz="14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1400"/>
                        <a:buFont typeface="Calibri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(99.5% reduction)</a:t>
                      </a:r>
                      <a:endParaRPr sz="14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0" name="Google Shape;160;p10"/>
          <p:cNvSpPr/>
          <p:nvPr/>
        </p:nvSpPr>
        <p:spPr>
          <a:xfrm>
            <a:off x="914400" y="1280160"/>
            <a:ext cx="731520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10"/>
          <p:cNvSpPr/>
          <p:nvPr/>
        </p:nvSpPr>
        <p:spPr>
          <a:xfrm>
            <a:off x="1481500" y="4023351"/>
            <a:ext cx="6291000" cy="7314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10"/>
          <p:cNvSpPr/>
          <p:nvPr/>
        </p:nvSpPr>
        <p:spPr>
          <a:xfrm>
            <a:off x="1371600" y="4023360"/>
            <a:ext cx="6400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💰 Annual Savings: $55,987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761"/>
        </a:solid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1"/>
          <p:cNvSpPr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2800"/>
              <a:buFont typeface="Calibri"/>
              <a:buNone/>
            </a:pPr>
            <a:r>
              <a:rPr b="0" i="0" lang="en-US" sz="28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Critical Concept: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1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Calibri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What S3 Streaming Actually Measures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1"/>
          <p:cNvSpPr/>
          <p:nvPr/>
        </p:nvSpPr>
        <p:spPr>
          <a:xfrm>
            <a:off x="731520" y="2103120"/>
            <a:ext cx="3840480" cy="2011680"/>
          </a:xfrm>
          <a:prstGeom prst="rect">
            <a:avLst/>
          </a:prstGeom>
          <a:solidFill>
            <a:srgbClr val="00B050">
              <a:alpha val="8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1"/>
          <p:cNvSpPr/>
          <p:nvPr/>
        </p:nvSpPr>
        <p:spPr>
          <a:xfrm>
            <a:off x="914400" y="2377440"/>
            <a:ext cx="347472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S3 Streaming Measures: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"When can I START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processing?"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Answer: </a:t>
            </a:r>
            <a:r>
              <a:rPr b="1" i="0" lang="en-US" sz="28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27 milliseconds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1"/>
          <p:cNvSpPr/>
          <p:nvPr/>
        </p:nvSpPr>
        <p:spPr>
          <a:xfrm>
            <a:off x="5029200" y="2103120"/>
            <a:ext cx="3840480" cy="2011680"/>
          </a:xfrm>
          <a:prstGeom prst="rect">
            <a:avLst/>
          </a:prstGeom>
          <a:solidFill>
            <a:srgbClr val="666666">
              <a:alpha val="6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11"/>
          <p:cNvSpPr/>
          <p:nvPr/>
        </p:nvSpPr>
        <p:spPr>
          <a:xfrm>
            <a:off x="5212080" y="2377440"/>
            <a:ext cx="347472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Redis Requires: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2000"/>
              <a:buFont typeface="Calibri"/>
              <a:buNone/>
            </a:pPr>
            <a:r>
              <a:rPr b="0" i="1" lang="en-US" sz="20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"Complete download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2000"/>
              <a:buFont typeface="Calibri"/>
              <a:buNone/>
            </a:pPr>
            <a:r>
              <a:rPr b="0" i="1" lang="en-US" sz="20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BEFORE processing"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Time: </a:t>
            </a: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2,148 milliseconds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1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This is the single most important metric for event-driven system throughput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2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4000"/>
              <a:buFont typeface="Calibri"/>
              <a:buNone/>
            </a:pPr>
            <a:r>
              <a:rPr b="1" i="0" lang="en-US" sz="4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Hybrid Architecture Consideration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2"/>
          <p:cNvSpPr/>
          <p:nvPr/>
        </p:nvSpPr>
        <p:spPr>
          <a:xfrm>
            <a:off x="457200" y="777240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Optional optimization for heterogeneous workloads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2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12"/>
          <p:cNvSpPr/>
          <p:nvPr/>
        </p:nvSpPr>
        <p:spPr>
          <a:xfrm>
            <a:off x="457200" y="1234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Size-Based Routing Strategy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2"/>
          <p:cNvSpPr/>
          <p:nvPr/>
        </p:nvSpPr>
        <p:spPr>
          <a:xfrm>
            <a:off x="914400" y="1737360"/>
            <a:ext cx="3657600" cy="1188720"/>
          </a:xfrm>
          <a:prstGeom prst="rect">
            <a:avLst/>
          </a:prstGeom>
          <a:solidFill>
            <a:srgbClr val="C00000">
              <a:alpha val="9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12"/>
          <p:cNvSpPr/>
          <p:nvPr/>
        </p:nvSpPr>
        <p:spPr>
          <a:xfrm>
            <a:off x="1097280" y="1920240"/>
            <a:ext cx="32918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Files &lt; 2 MB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→ Redis Storage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Rationale:</a:t>
            </a:r>
            <a:r>
              <a:rPr b="0" i="0" lang="en-US" sz="13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20-50ms faster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2"/>
          <p:cNvSpPr/>
          <p:nvPr/>
        </p:nvSpPr>
        <p:spPr>
          <a:xfrm>
            <a:off x="5029200" y="1737360"/>
            <a:ext cx="3657600" cy="1188720"/>
          </a:xfrm>
          <a:prstGeom prst="rect">
            <a:avLst/>
          </a:prstGeom>
          <a:solidFill>
            <a:srgbClr val="00B050">
              <a:alpha val="9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12"/>
          <p:cNvSpPr/>
          <p:nvPr/>
        </p:nvSpPr>
        <p:spPr>
          <a:xfrm>
            <a:off x="5212080" y="1920240"/>
            <a:ext cx="32918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050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Files ≥ 2 MB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→ S3 Multipart Storage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Rationale:</a:t>
            </a:r>
            <a:r>
              <a:rPr b="0" i="0" lang="en-US" sz="13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Cost, scale, streaming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2"/>
          <p:cNvSpPr/>
          <p:nvPr/>
        </p:nvSpPr>
        <p:spPr>
          <a:xfrm>
            <a:off x="640080" y="320040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050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Benefits: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2"/>
          <p:cNvSpPr/>
          <p:nvPr/>
        </p:nvSpPr>
        <p:spPr>
          <a:xfrm>
            <a:off x="822960" y="3520440"/>
            <a:ext cx="3657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✓ Optimal performance for all sizes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✓ Cost optimization via tiered storage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✓ Memory pressure mitigation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2"/>
          <p:cNvSpPr/>
          <p:nvPr/>
        </p:nvSpPr>
        <p:spPr>
          <a:xfrm>
            <a:off x="4846320" y="320040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Considerations: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2"/>
          <p:cNvSpPr/>
          <p:nvPr/>
        </p:nvSpPr>
        <p:spPr>
          <a:xfrm>
            <a:off x="5029200" y="3520440"/>
            <a:ext cx="3657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⚠ Increased complexity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⚠ Workload analysis required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⚠ Marginal benefit for &lt;2MB files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2"/>
          <p:cNvSpPr/>
          <p:nvPr/>
        </p:nvSpPr>
        <p:spPr>
          <a:xfrm>
            <a:off x="457200" y="4389120"/>
            <a:ext cx="822960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12"/>
          <p:cNvSpPr/>
          <p:nvPr/>
        </p:nvSpPr>
        <p:spPr>
          <a:xfrm>
            <a:off x="640080" y="4526280"/>
            <a:ext cx="7863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When to Consider: </a:t>
            </a:r>
            <a:r>
              <a:rPr b="0" i="1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&gt;30% of requests are &lt;2MB AND latency requirements are stringent (&lt;200ms end-to-end)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3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4000"/>
              <a:buFont typeface="Calibri"/>
              <a:buNone/>
            </a:pPr>
            <a:r>
              <a:rPr b="1" i="0" lang="en-US" sz="4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Decision Framework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00" name="Google Shape;200;p13"/>
          <p:cNvGraphicFramePr/>
          <p:nvPr/>
        </p:nvGraphicFramePr>
        <p:xfrm>
          <a:off x="731520" y="109728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{52F6A371-383C-4076-86C3-90992FE30A76}</a:tableStyleId>
              </a:tblPr>
              <a:tblGrid>
                <a:gridCol w="2560325"/>
                <a:gridCol w="2560325"/>
                <a:gridCol w="2560325"/>
              </a:tblGrid>
              <a:tr h="594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Workload Profile</a:t>
                      </a:r>
                      <a:endParaRPr sz="14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Recommended</a:t>
                      </a:r>
                      <a:endParaRPr sz="14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Architecture</a:t>
                      </a:r>
                      <a:endParaRPr sz="14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Justification</a:t>
                      </a:r>
                      <a:endParaRPr sz="14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94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cap="none" strike="noStrike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&gt;95% of payloads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cap="none" strike="noStrike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&gt;100 MB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Pure S3</a:t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Multipart</a:t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Hybrid complexity unjustified.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S3 Multipart near-Redis performance.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94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cap="none" strike="noStrike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30-70% payloads &lt;2MB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cap="none" strike="noStrike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Stringent latency SLA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9900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FF99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Hybrid</a:t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Significant small-payload volume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justifies routing complexity.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94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cap="none" strike="noStrike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&gt;70% payloads &lt;2MB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cap="none" strike="noStrike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Relaxed latency SLA</a:t>
                      </a:r>
                      <a:endParaRPr sz="13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Pure S3</a:t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Multipart</a:t>
                      </a:r>
                      <a:endParaRPr sz="16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30ms delta negligible in typical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66666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request path. Simplicity preferred.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66666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1" name="Google Shape;201;p13"/>
          <p:cNvSpPr/>
          <p:nvPr/>
        </p:nvSpPr>
        <p:spPr>
          <a:xfrm>
            <a:off x="731520" y="1097280"/>
            <a:ext cx="7680960" cy="5943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3"/>
          <p:cNvSpPr/>
          <p:nvPr/>
        </p:nvSpPr>
        <p:spPr>
          <a:xfrm>
            <a:off x="457200" y="3749040"/>
            <a:ext cx="8229600" cy="1188720"/>
          </a:xfrm>
          <a:prstGeom prst="rect">
            <a:avLst/>
          </a:prstGeom>
          <a:solidFill>
            <a:srgbClr val="00B050">
              <a:alpha val="9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3"/>
          <p:cNvSpPr/>
          <p:nvPr/>
        </p:nvSpPr>
        <p:spPr>
          <a:xfrm>
            <a:off x="640080" y="3931920"/>
            <a:ext cx="7863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050"/>
              </a:buClr>
              <a:buSzPts val="2000"/>
              <a:buFont typeface="Calibri"/>
              <a:buNone/>
            </a:pPr>
            <a:r>
              <a:rPr b="1" lang="en-US" sz="200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Jose</a:t>
            </a:r>
            <a:r>
              <a:rPr b="1" i="0" lang="en-US" sz="2000" u="none" cap="none" strike="noStrike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 MVP2 / </a:t>
            </a:r>
            <a:r>
              <a:rPr b="1" lang="en-US" sz="200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Angel</a:t>
            </a:r>
            <a:r>
              <a:rPr b="1" i="0" lang="en-US" sz="2000" u="none" cap="none" strike="noStrike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 Recommendation: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3"/>
          <p:cNvSpPr/>
          <p:nvPr/>
        </p:nvSpPr>
        <p:spPr>
          <a:xfrm>
            <a:off x="822960" y="4297680"/>
            <a:ext cx="7498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050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✅ Pure S3 Multipart Architecture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Rationale: </a:t>
            </a:r>
            <a:r>
              <a:rPr lang="en-US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Angel</a:t>
            </a:r>
            <a:r>
              <a:rPr b="0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 calibration files (156-256MB) represent &gt;95% of workload. S3 Multipart achieves near-Redis upload speed (3.6% slower), 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82x faster TTFB, and 99.5% cost savings. Simplicity over marginal optimization.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4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4000"/>
              <a:buFont typeface="Calibri"/>
              <a:buNone/>
            </a:pPr>
            <a:r>
              <a:rPr b="1" i="0" lang="en-US" sz="4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Key Takeaways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4"/>
          <p:cNvSpPr/>
          <p:nvPr/>
        </p:nvSpPr>
        <p:spPr>
          <a:xfrm>
            <a:off x="457200" y="1097280"/>
            <a:ext cx="4114800" cy="1737360"/>
          </a:xfrm>
          <a:prstGeom prst="rect">
            <a:avLst/>
          </a:prstGeom>
          <a:solidFill>
            <a:srgbClr val="2E75B5">
              <a:alpha val="9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4"/>
          <p:cNvSpPr/>
          <p:nvPr/>
        </p:nvSpPr>
        <p:spPr>
          <a:xfrm>
            <a:off x="640080" y="1234440"/>
            <a:ext cx="3749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75B5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rPr>
              <a:t>Performance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4"/>
          <p:cNvSpPr/>
          <p:nvPr/>
        </p:nvSpPr>
        <p:spPr>
          <a:xfrm>
            <a:off x="731520" y="1645920"/>
            <a:ext cx="36576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3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S3 Multipart: near-Redis upload (3.6%)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3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82x faster time-to-first-byte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3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1.5x faster than traditional S3 PUT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3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Consistent streaming performance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4"/>
          <p:cNvSpPr/>
          <p:nvPr/>
        </p:nvSpPr>
        <p:spPr>
          <a:xfrm>
            <a:off x="4846320" y="1097280"/>
            <a:ext cx="4114800" cy="1737360"/>
          </a:xfrm>
          <a:prstGeom prst="rect">
            <a:avLst/>
          </a:prstGeom>
          <a:solidFill>
            <a:srgbClr val="00B050">
              <a:alpha val="9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4"/>
          <p:cNvSpPr/>
          <p:nvPr/>
        </p:nvSpPr>
        <p:spPr>
          <a:xfrm>
            <a:off x="5029200" y="1234440"/>
            <a:ext cx="3749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050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Cost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14"/>
          <p:cNvSpPr/>
          <p:nvPr/>
        </p:nvSpPr>
        <p:spPr>
          <a:xfrm>
            <a:off x="5120640" y="1645920"/>
            <a:ext cx="36576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3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99.5% cost reduction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3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$4,666/mo → $25/mo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3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$55,987 annual savings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3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Linear scaling with usage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4"/>
          <p:cNvSpPr/>
          <p:nvPr/>
        </p:nvSpPr>
        <p:spPr>
          <a:xfrm>
            <a:off x="457200" y="3017520"/>
            <a:ext cx="4114800" cy="1737360"/>
          </a:xfrm>
          <a:prstGeom prst="rect">
            <a:avLst/>
          </a:prstGeom>
          <a:solidFill>
            <a:srgbClr val="02C39A">
              <a:alpha val="9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14"/>
          <p:cNvSpPr/>
          <p:nvPr/>
        </p:nvSpPr>
        <p:spPr>
          <a:xfrm>
            <a:off x="640080" y="3154680"/>
            <a:ext cx="3749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Reliability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4"/>
          <p:cNvSpPr/>
          <p:nvPr/>
        </p:nvSpPr>
        <p:spPr>
          <a:xfrm>
            <a:off x="731520" y="3566160"/>
            <a:ext cx="36576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3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11 9's durability (S3)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3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No OOM risk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3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No memory pressure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3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Automatic versioning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4"/>
          <p:cNvSpPr/>
          <p:nvPr/>
        </p:nvSpPr>
        <p:spPr>
          <a:xfrm>
            <a:off x="4846320" y="3017520"/>
            <a:ext cx="4114800" cy="1737360"/>
          </a:xfrm>
          <a:prstGeom prst="rect">
            <a:avLst/>
          </a:prstGeom>
          <a:solidFill>
            <a:srgbClr val="FF9900">
              <a:alpha val="9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14"/>
          <p:cNvSpPr/>
          <p:nvPr/>
        </p:nvSpPr>
        <p:spPr>
          <a:xfrm>
            <a:off x="5029200" y="3154680"/>
            <a:ext cx="3749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9900"/>
                </a:solidFill>
                <a:latin typeface="Calibri"/>
                <a:ea typeface="Calibri"/>
                <a:cs typeface="Calibri"/>
                <a:sym typeface="Calibri"/>
              </a:rPr>
              <a:t>Architecture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4"/>
          <p:cNvSpPr/>
          <p:nvPr/>
        </p:nvSpPr>
        <p:spPr>
          <a:xfrm>
            <a:off x="5120640" y="3566160"/>
            <a:ext cx="36576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3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Unlimited S3 capacity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3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Event-driven throughput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3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VPC Gateway Endpoint (private)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3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Hybrid option for edge cases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5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4000"/>
              <a:buFont typeface="Calibri"/>
              <a:buNone/>
            </a:pPr>
            <a:r>
              <a:rPr b="1" i="0" lang="en-US" sz="4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Recommendation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5"/>
          <p:cNvSpPr/>
          <p:nvPr/>
        </p:nvSpPr>
        <p:spPr>
          <a:xfrm>
            <a:off x="914400" y="1005840"/>
            <a:ext cx="7315200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15"/>
          <p:cNvSpPr/>
          <p:nvPr/>
        </p:nvSpPr>
        <p:spPr>
          <a:xfrm>
            <a:off x="1097280" y="1280160"/>
            <a:ext cx="69494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Adopt Pure S3 Multipart Architecture for </a:t>
            </a:r>
            <a:r>
              <a:rPr b="1" lang="en-US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Angel</a:t>
            </a: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Integration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5"/>
          <p:cNvSpPr/>
          <p:nvPr/>
        </p:nvSpPr>
        <p:spPr>
          <a:xfrm>
            <a:off x="1097280" y="1600200"/>
            <a:ext cx="6949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600"/>
              <a:buFont typeface="Calibri"/>
              <a:buNone/>
            </a:pPr>
            <a:r>
              <a:rPr b="0" i="1" lang="en-US" sz="16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Replace Redis-based file storage with S3 Managed Multipart for all calibration files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5"/>
          <p:cNvSpPr/>
          <p:nvPr/>
        </p:nvSpPr>
        <p:spPr>
          <a:xfrm>
            <a:off x="640080" y="2194560"/>
            <a:ext cx="7863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Implementation Approach: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5"/>
          <p:cNvSpPr/>
          <p:nvPr/>
        </p:nvSpPr>
        <p:spPr>
          <a:xfrm>
            <a:off x="822960" y="2514600"/>
            <a:ext cx="7498080" cy="1691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1. </a:t>
            </a:r>
            <a:r>
              <a:rPr b="1" lang="en-US" sz="16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Angel</a:t>
            </a:r>
            <a:r>
              <a:rPr b="1" i="0" lang="en-US" sz="16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 writes calibration results to S3 using Multipart Upload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   • Cross-account write permissions to </a:t>
            </a:r>
            <a:r>
              <a:rPr lang="en-US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Jose</a:t>
            </a:r>
            <a:r>
              <a:rPr b="0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 S3 buckets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   • 156-256MB Parquet files stored with boto3 managed multipart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   • VPC Gateway Endpoint ensures private traffic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2. </a:t>
            </a:r>
            <a:r>
              <a:rPr b="1" lang="en-US" sz="16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Angel</a:t>
            </a:r>
            <a:r>
              <a:rPr b="1" i="0" lang="en-US" sz="16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 publishes S3 reference to Redis Streams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   • Tiny message (~200 bytes): {request_id, s3_path, status}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   • Redis used only for metadata (its intended purpose)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3. </a:t>
            </a:r>
            <a:r>
              <a:rPr b="1" lang="en-US" sz="16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Jose</a:t>
            </a:r>
            <a:r>
              <a:rPr b="1" i="0" lang="en-US" sz="16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 consumers read from S3 with streaming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   • Processing begins in 27ms (first chunk arrival)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   • Parallel download and processing via AWS SDK v2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5"/>
          <p:cNvSpPr/>
          <p:nvPr/>
        </p:nvSpPr>
        <p:spPr>
          <a:xfrm>
            <a:off x="457200" y="4434840"/>
            <a:ext cx="8229600" cy="502920"/>
          </a:xfrm>
          <a:prstGeom prst="rect">
            <a:avLst/>
          </a:prstGeom>
          <a:solidFill>
            <a:srgbClr val="00B050">
              <a:alpha val="9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15"/>
          <p:cNvSpPr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B050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✓ Near-Redis upload  ✓ 82x better TTFB  ✓ 1.5x faster than S3 PUT  ✓ 99.5% cost savings  ✓ 11 9's durability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761"/>
        </a:solid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16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Calibri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6"/>
          <p:cNvSpPr/>
          <p:nvPr/>
        </p:nvSpPr>
        <p:spPr>
          <a:xfrm>
            <a:off x="1371600" y="1828800"/>
            <a:ext cx="640080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Empirical benchmark testing confirms S3 Managed Multipart significantly outperforms traditional approaches: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✓ </a:t>
            </a:r>
            <a:r>
              <a:rPr b="0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Near-Redis upload performance (only 3.6% slower)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✓ </a:t>
            </a:r>
            <a:r>
              <a:rPr b="0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1.5x faster than traditional S3 PUT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✓ </a:t>
            </a:r>
            <a:r>
              <a:rPr b="0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82x faster time-to-first-byte (27ms vs 2,148ms)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✓ </a:t>
            </a:r>
            <a:r>
              <a:rPr b="0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99.5% cost reduction ($55,987 annual savings)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✓ </a:t>
            </a:r>
            <a:r>
              <a:rPr b="0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Superior reliability, scalability, and operational simplicity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For </a:t>
            </a:r>
            <a:r>
              <a:rPr lang="en-US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Angel</a:t>
            </a:r>
            <a:r>
              <a:rPr b="0" i="0" lang="en-US" sz="14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's 156-256MB calibration files, 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Pure S3 Managed Multipart architecture is the optimal choice.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761"/>
        </a:solidFill>
      </p:bgPr>
    </p:bg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7"/>
          <p:cNvSpPr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600"/>
              <a:buFont typeface="Calibri"/>
              <a:buNone/>
            </a:pPr>
            <a:r>
              <a:rPr b="1" i="0" lang="en-US" sz="5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Questions?</a:t>
            </a:r>
            <a:endParaRPr b="0" i="0" sz="5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7"/>
          <p:cNvSpPr/>
          <p:nvPr/>
        </p:nvSpPr>
        <p:spPr>
          <a:xfrm>
            <a:off x="3200400" y="2743200"/>
            <a:ext cx="2743200" cy="4572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17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800"/>
              <a:buFont typeface="Calibri"/>
              <a:buNone/>
            </a:pPr>
            <a:r>
              <a:rPr lang="en-US" sz="18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Jose</a:t>
            </a:r>
            <a:r>
              <a:rPr b="0" i="0" lang="en-US" sz="18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 Architecture Team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2026-02-12T03:37:00Z</dcterms:created>
  <dc:creator>XENA Architecture Team</dc:creator>
</cp:coreProperties>
</file>